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Track-Aware (Honest)</c:v>
                </c:pt>
              </c:strCache>
            </c:strRef>
          </c:tx>
          <c:spPr>
            <a:solidFill>
              <a:srgbClr val="1B4F8A"/>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Macro-F1</c:v>
                  </c:pt>
                </c:lvl>
              </c:multiLvlStrCache>
            </c:multiLvlStrRef>
          </c:cat>
          <c:val>
            <c:numRef>
              <c:f>Sheet1!$B$2:$B$3</c:f>
              <c:numCache>
                <c:formatCode>General</c:formatCode>
                <c:ptCount val="2"/>
                <c:pt idx="0">
                  <c:v>0.812</c:v>
                </c:pt>
                <c:pt idx="1">
                  <c:v>0.388</c:v>
                </c:pt>
              </c:numCache>
            </c:numRef>
          </c:val>
        </c:ser>
        <c:ser>
          <c:idx val="1"/>
          <c:order val="1"/>
          <c:tx>
            <c:strRef>
              <c:f>Sheet1!$C$1</c:f>
              <c:strCache>
                <c:ptCount val="1"/>
                <c:pt idx="0">
                  <c:v>Random Split (Inflated)</c:v>
                </c:pt>
              </c:strCache>
            </c:strRef>
          </c:tx>
          <c:spPr>
            <a:solidFill>
              <a:srgbClr val="EF4444"/>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Macro-F1</c:v>
                  </c:pt>
                </c:lvl>
              </c:multiLvlStrCache>
            </c:multiLvlStrRef>
          </c:cat>
          <c:val>
            <c:numRef>
              <c:f>Sheet1!$C$2:$C$3</c:f>
              <c:numCache>
                <c:formatCode>General</c:formatCode>
                <c:ptCount val="2"/>
                <c:pt idx="0">
                  <c:v>0.94</c:v>
                </c:pt>
                <c:pt idx="1">
                  <c:v>0.908</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0F5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HOG+SVM</c:v>
                </c:pt>
              </c:strCache>
            </c:strRef>
          </c:tx>
          <c:spPr>
            <a:solidFill>
              <a:srgbClr val="1B4F8A"/>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Top-2 Acc</c:v>
                  </c:pt>
                  <c:pt idx="2">
                    <c:v>Macro-F1</c:v>
                  </c:pt>
                  <c:pt idx="3">
                    <c:v>Weighted-F1</c:v>
                  </c:pt>
                </c:lvl>
              </c:multiLvlStrCache>
            </c:multiLvlStrRef>
          </c:cat>
          <c:val>
            <c:numRef>
              <c:f>Sheet1!$B$2:$B$5</c:f>
              <c:numCache>
                <c:formatCode>General</c:formatCode>
                <c:ptCount val="4"/>
                <c:pt idx="0">
                  <c:v>0.8122</c:v>
                </c:pt>
                <c:pt idx="1">
                  <c:v>0.8792</c:v>
                </c:pt>
                <c:pt idx="2">
                  <c:v>0.3876</c:v>
                </c:pt>
                <c:pt idx="3">
                  <c:v>0.7622</c:v>
                </c:pt>
              </c:numCache>
            </c:numRef>
          </c:val>
        </c:ser>
        <c:ser>
          <c:idx val="1"/>
          <c:order val="1"/>
          <c:tx>
            <c:strRef>
              <c:f>Sheet1!$C$1</c:f>
              <c:strCache>
                <c:ptCount val="1"/>
                <c:pt idx="0">
                  <c:v>HOG+RF</c:v>
                </c:pt>
              </c:strCache>
            </c:strRef>
          </c:tx>
          <c:spPr>
            <a:solidFill>
              <a:srgbClr val="0EA5E9"/>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Top-2 Acc</c:v>
                  </c:pt>
                  <c:pt idx="2">
                    <c:v>Macro-F1</c:v>
                  </c:pt>
                  <c:pt idx="3">
                    <c:v>Weighted-F1</c:v>
                  </c:pt>
                </c:lvl>
              </c:multiLvlStrCache>
            </c:multiLvlStrRef>
          </c:cat>
          <c:val>
            <c:numRef>
              <c:f>Sheet1!$C$2:$C$5</c:f>
              <c:numCache>
                <c:formatCode>General</c:formatCode>
                <c:ptCount val="4"/>
                <c:pt idx="0">
                  <c:v>0.8285</c:v>
                </c:pt>
                <c:pt idx="1">
                  <c:v>0.8534</c:v>
                </c:pt>
                <c:pt idx="2">
                  <c:v>0.3924</c:v>
                </c:pt>
                <c:pt idx="3">
                  <c:v>0.7695</c:v>
                </c:pt>
              </c:numCache>
            </c:numRef>
          </c:val>
        </c:ser>
        <c:ser>
          <c:idx val="2"/>
          <c:order val="2"/>
          <c:tx>
            <c:strRef>
              <c:f>Sheet1!$D$1</c:f>
              <c:strCache>
                <c:ptCount val="1"/>
                <c:pt idx="0">
                  <c:v>ResNet18</c:v>
                </c:pt>
              </c:strCache>
            </c:strRef>
          </c:tx>
          <c:spPr>
            <a:solidFill>
              <a:srgbClr val="22C55E"/>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Top-2 Acc</c:v>
                  </c:pt>
                  <c:pt idx="2">
                    <c:v>Macro-F1</c:v>
                  </c:pt>
                  <c:pt idx="3">
                    <c:v>Weighted-F1</c:v>
                  </c:pt>
                </c:lvl>
              </c:multiLvlStrCache>
            </c:multiLvlStrRef>
          </c:cat>
          <c:val>
            <c:numRef>
              <c:f>Sheet1!$D$2:$D$5</c:f>
              <c:numCache>
                <c:formatCode>General</c:formatCode>
                <c:ptCount val="4"/>
                <c:pt idx="0">
                  <c:v>0.7986</c:v>
                </c:pt>
                <c:pt idx="1">
                  <c:v>0.9688</c:v>
                </c:pt>
                <c:pt idx="2">
                  <c:v>0.4973</c:v>
                </c:pt>
                <c:pt idx="3">
                  <c:v>0.8454</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8FA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HOG+SVM</c:v>
                </c:pt>
              </c:strCache>
            </c:strRef>
          </c:tx>
          <c:spPr>
            <a:solidFill>
              <a:srgbClr val="1B4F8A"/>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Car</c:v>
                  </c:pt>
                  <c:pt idx="1">
                    <c:v>Pedestrian</c:v>
                  </c:pt>
                  <c:pt idx="2">
                    <c:v>Motor</c:v>
                  </c:pt>
                  <c:pt idx="3">
                    <c:v>People</c:v>
                  </c:pt>
                  <c:pt idx="4">
                    <c:v>Bus</c:v>
                  </c:pt>
                  <c:pt idx="5">
                    <c:v>Van</c:v>
                  </c:pt>
                  <c:pt idx="6">
                    <c:v>Bicycle</c:v>
                  </c:pt>
                </c:lvl>
              </c:multiLvlStrCache>
            </c:multiLvlStrRef>
          </c:cat>
          <c:val>
            <c:numRef>
              <c:f>Sheet1!$B$2:$B$8</c:f>
              <c:numCache>
                <c:formatCode>General</c:formatCode>
                <c:ptCount val="7"/>
                <c:pt idx="0">
                  <c:v>0.92</c:v>
                </c:pt>
                <c:pt idx="1">
                  <c:v>0.86</c:v>
                </c:pt>
                <c:pt idx="2">
                  <c:v>0.08</c:v>
                </c:pt>
                <c:pt idx="3">
                  <c:v>0</c:v>
                </c:pt>
                <c:pt idx="4">
                  <c:v>0</c:v>
                </c:pt>
                <c:pt idx="5">
                  <c:v>0</c:v>
                </c:pt>
                <c:pt idx="6">
                  <c:v>0</c:v>
                </c:pt>
              </c:numCache>
            </c:numRef>
          </c:val>
        </c:ser>
        <c:ser>
          <c:idx val="1"/>
          <c:order val="1"/>
          <c:tx>
            <c:strRef>
              <c:f>Sheet1!$C$1</c:f>
              <c:strCache>
                <c:ptCount val="1"/>
                <c:pt idx="0">
                  <c:v>HOG+RF</c:v>
                </c:pt>
              </c:strCache>
            </c:strRef>
          </c:tx>
          <c:spPr>
            <a:solidFill>
              <a:srgbClr val="0EA5E9"/>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Car</c:v>
                  </c:pt>
                  <c:pt idx="1">
                    <c:v>Pedestrian</c:v>
                  </c:pt>
                  <c:pt idx="2">
                    <c:v>Motor</c:v>
                  </c:pt>
                  <c:pt idx="3">
                    <c:v>People</c:v>
                  </c:pt>
                  <c:pt idx="4">
                    <c:v>Bus</c:v>
                  </c:pt>
                  <c:pt idx="5">
                    <c:v>Van</c:v>
                  </c:pt>
                  <c:pt idx="6">
                    <c:v>Bicycle</c:v>
                  </c:pt>
                </c:lvl>
              </c:multiLvlStrCache>
            </c:multiLvlStrRef>
          </c:cat>
          <c:val>
            <c:numRef>
              <c:f>Sheet1!$C$2:$C$8</c:f>
              <c:numCache>
                <c:formatCode>General</c:formatCode>
                <c:ptCount val="7"/>
                <c:pt idx="0">
                  <c:v>0.963</c:v>
                </c:pt>
                <c:pt idx="1">
                  <c:v>0.867</c:v>
                </c:pt>
                <c:pt idx="2">
                  <c:v>0</c:v>
                </c:pt>
                <c:pt idx="3">
                  <c:v>0</c:v>
                </c:pt>
                <c:pt idx="4">
                  <c:v>0</c:v>
                </c:pt>
                <c:pt idx="5">
                  <c:v>1</c:v>
                </c:pt>
                <c:pt idx="6">
                  <c:v>0</c:v>
                </c:pt>
              </c:numCache>
            </c:numRef>
          </c:val>
        </c:ser>
        <c:ser>
          <c:idx val="2"/>
          <c:order val="2"/>
          <c:tx>
            <c:strRef>
              <c:f>Sheet1!$D$1</c:f>
              <c:strCache>
                <c:ptCount val="1"/>
                <c:pt idx="0">
                  <c:v>ResNet18</c:v>
                </c:pt>
              </c:strCache>
            </c:strRef>
          </c:tx>
          <c:spPr>
            <a:solidFill>
              <a:srgbClr val="22C55E"/>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Car</c:v>
                  </c:pt>
                  <c:pt idx="1">
                    <c:v>Pedestrian</c:v>
                  </c:pt>
                  <c:pt idx="2">
                    <c:v>Motor</c:v>
                  </c:pt>
                  <c:pt idx="3">
                    <c:v>People</c:v>
                  </c:pt>
                  <c:pt idx="4">
                    <c:v>Bus</c:v>
                  </c:pt>
                  <c:pt idx="5">
                    <c:v>Van</c:v>
                  </c:pt>
                  <c:pt idx="6">
                    <c:v>Bicycle</c:v>
                  </c:pt>
                </c:lvl>
              </c:multiLvlStrCache>
            </c:multiLvlStrRef>
          </c:cat>
          <c:val>
            <c:numRef>
              <c:f>Sheet1!$D$2:$D$8</c:f>
              <c:numCache>
                <c:formatCode>General</c:formatCode>
                <c:ptCount val="7"/>
                <c:pt idx="0">
                  <c:v>0.906</c:v>
                </c:pt>
                <c:pt idx="1">
                  <c:v>0.877</c:v>
                </c:pt>
                <c:pt idx="2">
                  <c:v>0.719</c:v>
                </c:pt>
                <c:pt idx="3">
                  <c:v>0.463</c:v>
                </c:pt>
                <c:pt idx="4">
                  <c:v>0</c:v>
                </c:pt>
                <c:pt idx="5">
                  <c:v>0</c:v>
                </c:pt>
                <c:pt idx="6">
                  <c:v>0.538</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8FA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Shehryar, student ID P2952028, studying MSc Artificial Intelligence at De Montfort University. Today I am presenting my CSIP5403 research project on multi-class object classification applied to UAV aerial imagery. The study compares classical machine learning approaches — HOG with SVM and Random Forest — against deep learning using ResNet18 with Focal Loss on the VisDrone benchmark dataset. I will take you through the dataset, methodology, results, and the key findings that came out of this work. The presentation will take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for today. We have nine sections covering the full pipeline from dataset to conclusions. I will move through each one, and the most important section — the one that distinguishes this work — is the track-aware partitioning and the leakage finding, which I will explain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a single VisDrone-MOT sequence — uav0000297_00000_v — recorded at 40 to 60 metres altitude. After quality filtering, we extracted 8,842 object crops across 146 frames and 7 classes. The critical challenge is class imbalance: car has 4,329 crops while bicycle has only 104 — that is a 41.6 times difference. This is a SMALL dataset in terms of minority class representation, which directly affects how well classifiers can learn rare categories. The table on the right shows the full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happens in two parallel tracks depending on the model. For HOG-based models: we first filter invalid annotations, apply CLAHE to handle lighting variation, resize crops to 64×64, extract 1,764-dimensional HOG feature vectors, then balance the classes using RandomOverSampler to produce 21,434 training samples. For ResNet18: crops are resized to 96×96 and six stochastic augmentation transforms are applied during training. The augmentation is especially important for minority classes like bicycle and motor — without it, duplicated oversampled crops cause the model to overfit within two or three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analysis uncovered six key structural challenges. First, the scale problem: most crops are small, and a significant proportion of bicycle and motor crops fall below the 32-pixel quality threshold where feature extraction becomes unreliable. Second, high occlusion rates for bus and pedestrian. Third, spatial non-uniformity — each class has a characteristic location within the frame, which full-frame detection models exploit but which crop-level classifiers cannot. Fourth, temporal sparsity of minority classes. Fifth, class co-occurrence patterns that explain some confusion. And sixth — the summary — this is simultaneously an imbalance problem, a scale problem, an occlusion problem, and a data scarcity problem. All four factors compound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single most important methodological contribution of this work. In video sequences, the same physical object appears across many consecutive frames. Under naive random crop splitting, the same object identity appears in both training and test sets — the model learns to recognise that specific car or bicycle rather than developing generalisable visual features. This is data leakage. The consequence is dramatic: HOG+SVM under random splitting reports a macro-F1 of 0.908. Under honest track-aware splitting it is 0.388. That is a 52 percentage point difference caused entirely by methodology, not model capability. This is the largest such leakage effect documented in the UAV crop classification literature. The training set has 6,632 samples and the test set has 2,210, with zero identity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three models. Model A is HOG plus Linear SVM — a regularised linear classifier with C=0.05 chosen to prevent overfitting in the high-dimensional 1,764-feature space. It took 35.8 minutes to train due to probability calibration overhead. Model B is HOG plus Random Forest — 200 trees with balanced subsampling. It is 20 times faster to train than SVM and reveals that fewer than 5% of HOG features carry meaningful weight. Model C is ResNet18 pretrained on ImageNet, fine-tuned in two phases to prevent catastrophic forgetting. Focal Loss with gamma=2.0 and inverse-frequency class weights specifically addresses the class imbalance problem. The headline result: ResNet18 achieves the best macro-F1 at 0.497 despite having the lowest accuracy at 0.799 — which leads directly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slide. Looking at accuracy alone, HOG+RF appears best at 0.829, with ResNet18 last at 0.799. But this ranking is an artefact of the metric: car and pedestrian together make up 84.9% of test samples, so any model that just gets those two right will show high accuracy while failing completely on every minority class. Macro-F1 weights each class equally regardless of frequency. Under this metric, ResNet18 leads clearly at 0.497, compared to 0.392 for RF and 0.388 for SVM. ResNet18's Top-2 accuracy of 96.9% is also remarkable — the correct class appears in the top two predictions for nearly every single test sample. The operational trade-off is justified: in UAV surveillance, missing a bicycle is far more costly than a misclassified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per-class F1, the picture becomes very clear. Car is the best-performing class across all models — RF achieves F1=0.963. Pedestrian is also strong, above 0.86 for all models. These two are easy because they have abundant training data and distinctive visual profiles. Now look at the minority classes. HOG+SVM and HOG+RF score literally zero on motor, people, bicycle, and bus. ResNet18 is the only model achieving non-zero F1 on motor at 0.719, bicycle at 0.538, and people at 0.463. This is not a marginal improvement — it is the difference between zero detection and meaningful recognition. For bus: all models score zero, but this is a dataset limitation — only 6 test samples from 3 unique tracks makes the F1 estimate statistically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where ResNet18 covers the model requirements and where it does not. On the positive side: motor achieves F1=0.719, the highest minority-class score. Bicycle recall is 97% — almost every bicycle is detected. The Top-2 accuracy of 96.9% confirms the model has a strong internal representation even when the top-1 prediction is wrong. On the negative side: bicycle precision is only 0.372 because the model generates false positives. Pedestrian-people confusion persists even in learned feature space — these classes are genuinely visually ambiguous at UAV altitude. The training dynamics show two clear phases: in Phase 1, the frozen backbone provides a solid foundation from ImageNet. The step-change at epoch 5 when layer4 is unfrozen shows a measurable jump in both accuracy and macro-F1. Best performance is achieved at epoch 11 with monotonically decreasing Focal Loss — no overfitting instability was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interpretability analysis provides mechanistic rather than merely correlational evidence for all the results we have discussed. The t-SNE visualisation on 180 test samples shows the HOG feature space dominated by car, with bicycle and bus nearly invisible due to sample scarcity. This directly confirms why classical models achieve zero F1 on these classes — there are not enough samples to form a cluster, and the surrounding majority-class density prevents any discriminative boundary. The ResNet18 feature space shows improved motor-pedestrian separation, evidence that Focal Loss training is working. The persistent pedestrian-people overlap in both feature spaces confirms this confusion is a fundamental visual ambiguity, not a training problem. Grad-CAM provides the second line of evidence: for correctly classified crops the model attends to structurally meaningful regions. For misclassified crops the attention is diffuse and scattered — the model cannot find a discriminative anchor, which corroborates the t-SNE overlap finding. Grad-CAM also has a practical deployment implication: diffuse activation can serve as a confidence flag to escalate to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four principal findings emerge from this work. First, track-aware splitting is essential — the 52 percentage point macro-F1 inflation under random splitting is the most significant methodological finding of the study. Second, deep learning with Focal Loss is the only viable approach for minority class recognition on this dataset — classical HOG models fail entirely on five of seven classes. Third, accuracy is a misleading metric for imbalanced data — always use macro-F1 or per-class breakdown. Fourth, t-SNE and Grad-CAM provide mechanistic evidence that bus zero-F1 is a data problem while pedestrian-people confusion is a visual ambiguity problem — these require fundamentally different solutions. For future work: more sequences to resolve bus and van data scarcity, higher resolution input, and end-to-end detection frameworks that can exploit spatial context. Thank you for your attention —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any questions about the methodology, the results, or any of the four principal findings. The key messages to take away are: always use track-aware splitting on video-derived datasets, always use macro-F1 rather than accuracy for imbalanced evaluation, and always pair quantitative results with interpretability analysis to distinguish data problems from model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Shape 1"/>
          <p:cNvSpPr/>
          <p:nvPr/>
        </p:nvSpPr>
        <p:spPr>
          <a:xfrm>
            <a:off x="6858000" y="-1371600"/>
            <a:ext cx="4572000" cy="4572000"/>
          </a:xfrm>
          <a:prstGeom prst="ellipse">
            <a:avLst/>
          </a:prstGeom>
          <a:solidFill>
            <a:srgbClr val="1B4F8A">
              <a:alpha val="25000"/>
            </a:srgbClr>
          </a:solidFill>
          <a:ln/>
        </p:spPr>
      </p:sp>
      <p:sp>
        <p:nvSpPr>
          <p:cNvPr id="4" name="Shape 2"/>
          <p:cNvSpPr/>
          <p:nvPr/>
        </p:nvSpPr>
        <p:spPr>
          <a:xfrm>
            <a:off x="7498080" y="2926080"/>
            <a:ext cx="2560320" cy="2560320"/>
          </a:xfrm>
          <a:prstGeom prst="ellipse">
            <a:avLst/>
          </a:prstGeom>
          <a:solidFill>
            <a:srgbClr val="0EA5E9">
              <a:alpha val="20000"/>
            </a:srgbClr>
          </a:solidFill>
          <a:ln/>
        </p:spPr>
      </p:sp>
      <p:sp>
        <p:nvSpPr>
          <p:cNvPr id="5" name="Text 3"/>
          <p:cNvSpPr/>
          <p:nvPr/>
        </p:nvSpPr>
        <p:spPr>
          <a:xfrm>
            <a:off x="457200" y="548640"/>
            <a:ext cx="8229600" cy="73152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Multi-Class Object Classification</a:t>
            </a:r>
            <a:endParaRPr lang="en-US" sz="2800" dirty="0"/>
          </a:p>
        </p:txBody>
      </p:sp>
      <p:sp>
        <p:nvSpPr>
          <p:cNvPr id="6" name="Text 4"/>
          <p:cNvSpPr/>
          <p:nvPr/>
        </p:nvSpPr>
        <p:spPr>
          <a:xfrm>
            <a:off x="457200" y="1234440"/>
            <a:ext cx="8229600" cy="594360"/>
          </a:xfrm>
          <a:prstGeom prst="rect">
            <a:avLst/>
          </a:prstGeom>
          <a:noFill/>
          <a:ln/>
        </p:spPr>
        <p:txBody>
          <a:bodyPr wrap="square" rtlCol="0" anchor="ctr"/>
          <a:lstStyle/>
          <a:p>
            <a:pPr algn="ctr" indent="0" marL="0">
              <a:buNone/>
            </a:pPr>
            <a:r>
              <a:rPr lang="en-US" sz="2400" b="1" dirty="0">
                <a:solidFill>
                  <a:srgbClr val="0EA5E9"/>
                </a:solidFill>
                <a:latin typeface="Cambria" pitchFamily="34" charset="0"/>
                <a:ea typeface="Cambria" pitchFamily="34" charset="-122"/>
                <a:cs typeface="Cambria" pitchFamily="34" charset="-120"/>
              </a:rPr>
              <a:t>on UAV Aerial Imagery</a:t>
            </a:r>
            <a:endParaRPr lang="en-US" sz="2400" dirty="0"/>
          </a:p>
        </p:txBody>
      </p:sp>
      <p:sp>
        <p:nvSpPr>
          <p:cNvPr id="7" name="Text 5"/>
          <p:cNvSpPr/>
          <p:nvPr/>
        </p:nvSpPr>
        <p:spPr>
          <a:xfrm>
            <a:off x="457200" y="1874520"/>
            <a:ext cx="8229600" cy="411480"/>
          </a:xfrm>
          <a:prstGeom prst="rect">
            <a:avLst/>
          </a:prstGeom>
          <a:noFill/>
          <a:ln/>
        </p:spPr>
        <p:txBody>
          <a:bodyPr wrap="square" rtlCol="0" anchor="ctr"/>
          <a:lstStyle/>
          <a:p>
            <a:pPr algn="ctr" indent="0" marL="0">
              <a:buNone/>
            </a:pPr>
            <a:r>
              <a:rPr lang="en-US" sz="1400" i="1" dirty="0">
                <a:solidFill>
                  <a:srgbClr val="9BB8D4"/>
                </a:solidFill>
                <a:latin typeface="Calibri" pitchFamily="34" charset="0"/>
                <a:ea typeface="Calibri" pitchFamily="34" charset="-122"/>
                <a:cs typeface="Calibri" pitchFamily="34" charset="-120"/>
              </a:rPr>
              <a:t>A Comparative Study of Classical and Deep Learning Approaches</a:t>
            </a:r>
            <a:endParaRPr lang="en-US" sz="1400" dirty="0"/>
          </a:p>
        </p:txBody>
      </p:sp>
      <p:sp>
        <p:nvSpPr>
          <p:cNvPr id="8" name="Shape 6"/>
          <p:cNvSpPr/>
          <p:nvPr/>
        </p:nvSpPr>
        <p:spPr>
          <a:xfrm>
            <a:off x="2286000" y="2423160"/>
            <a:ext cx="4572000" cy="0"/>
          </a:xfrm>
          <a:prstGeom prst="line">
            <a:avLst/>
          </a:prstGeom>
          <a:noFill/>
          <a:ln w="19050">
            <a:solidFill>
              <a:srgbClr val="0EA5E9"/>
            </a:solidFill>
            <a:prstDash val="solid"/>
          </a:ln>
        </p:spPr>
      </p:sp>
      <p:sp>
        <p:nvSpPr>
          <p:cNvPr id="9" name="Text 7"/>
          <p:cNvSpPr/>
          <p:nvPr/>
        </p:nvSpPr>
        <p:spPr>
          <a:xfrm>
            <a:off x="457200" y="2606040"/>
            <a:ext cx="82296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SHEHRYAR</a:t>
            </a:r>
            <a:endParaRPr lang="en-US" sz="1600" dirty="0"/>
          </a:p>
        </p:txBody>
      </p:sp>
      <p:sp>
        <p:nvSpPr>
          <p:cNvPr id="10" name="Text 8"/>
          <p:cNvSpPr/>
          <p:nvPr/>
        </p:nvSpPr>
        <p:spPr>
          <a:xfrm>
            <a:off x="457200" y="2944368"/>
            <a:ext cx="8229600" cy="320040"/>
          </a:xfrm>
          <a:prstGeom prst="rect">
            <a:avLst/>
          </a:prstGeom>
          <a:noFill/>
          <a:ln/>
        </p:spPr>
        <p:txBody>
          <a:bodyPr wrap="square" rtlCol="0" anchor="ctr"/>
          <a:lstStyle/>
          <a:p>
            <a:pPr algn="ctr" indent="0" marL="0">
              <a:buNone/>
            </a:pPr>
            <a:r>
              <a:rPr lang="en-US" sz="1300" dirty="0">
                <a:solidFill>
                  <a:srgbClr val="9BB8D4"/>
                </a:solidFill>
                <a:latin typeface="Calibri" pitchFamily="34" charset="0"/>
                <a:ea typeface="Calibri" pitchFamily="34" charset="-122"/>
                <a:cs typeface="Calibri" pitchFamily="34" charset="-120"/>
              </a:rPr>
              <a:t>P2952028  |  MSc Artificial Intelligence</a:t>
            </a:r>
            <a:endParaRPr lang="en-US" sz="1300" dirty="0"/>
          </a:p>
        </p:txBody>
      </p:sp>
      <p:sp>
        <p:nvSpPr>
          <p:cNvPr id="11" name="Text 9"/>
          <p:cNvSpPr/>
          <p:nvPr/>
        </p:nvSpPr>
        <p:spPr>
          <a:xfrm>
            <a:off x="457200" y="3246120"/>
            <a:ext cx="8229600" cy="274320"/>
          </a:xfrm>
          <a:prstGeom prst="rect">
            <a:avLst/>
          </a:prstGeom>
          <a:noFill/>
          <a:ln/>
        </p:spPr>
        <p:txBody>
          <a:bodyPr wrap="square" rtlCol="0" anchor="ctr"/>
          <a:lstStyle/>
          <a:p>
            <a:pPr algn="ctr" indent="0" marL="0">
              <a:buNone/>
            </a:pPr>
            <a:r>
              <a:rPr lang="en-US" sz="1100" dirty="0">
                <a:solidFill>
                  <a:srgbClr val="9BB8D4"/>
                </a:solidFill>
                <a:latin typeface="Calibri" pitchFamily="34" charset="0"/>
                <a:ea typeface="Calibri" pitchFamily="34" charset="-122"/>
                <a:cs typeface="Calibri" pitchFamily="34" charset="-120"/>
              </a:rPr>
              <a:t>De Montfort University, Leicester  |  CSIP5403 — Research Methods and Applied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Presentation Overview</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What we will cover today</a:t>
            </a:r>
            <a:endParaRPr lang="en-US" sz="1100" dirty="0"/>
          </a:p>
        </p:txBody>
      </p:sp>
      <p:sp>
        <p:nvSpPr>
          <p:cNvPr id="5" name="Shape 3"/>
          <p:cNvSpPr/>
          <p:nvPr/>
        </p:nvSpPr>
        <p:spPr>
          <a:xfrm>
            <a:off x="274320" y="1078992"/>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6" name="Text 4"/>
          <p:cNvSpPr/>
          <p:nvPr/>
        </p:nvSpPr>
        <p:spPr>
          <a:xfrm>
            <a:off x="365760" y="1152144"/>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01</a:t>
            </a:r>
            <a:endParaRPr lang="en-US" sz="1400" dirty="0"/>
          </a:p>
        </p:txBody>
      </p:sp>
      <p:sp>
        <p:nvSpPr>
          <p:cNvPr id="7" name="Text 5"/>
          <p:cNvSpPr/>
          <p:nvPr/>
        </p:nvSpPr>
        <p:spPr>
          <a:xfrm>
            <a:off x="804672" y="1124712"/>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Dataset &amp; Data Used</a:t>
            </a:r>
            <a:endParaRPr lang="en-US" sz="1200" dirty="0"/>
          </a:p>
        </p:txBody>
      </p:sp>
      <p:sp>
        <p:nvSpPr>
          <p:cNvPr id="8" name="Text 6"/>
          <p:cNvSpPr/>
          <p:nvPr/>
        </p:nvSpPr>
        <p:spPr>
          <a:xfrm>
            <a:off x="804672" y="1380744"/>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VisDrone UAV sequence — 8,842 crops, 7 classes, small-scale data</a:t>
            </a:r>
            <a:endParaRPr lang="en-US" sz="950" dirty="0"/>
          </a:p>
        </p:txBody>
      </p:sp>
      <p:sp>
        <p:nvSpPr>
          <p:cNvPr id="9" name="Shape 7"/>
          <p:cNvSpPr/>
          <p:nvPr/>
        </p:nvSpPr>
        <p:spPr>
          <a:xfrm>
            <a:off x="274320" y="1828800"/>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10" name="Text 8"/>
          <p:cNvSpPr/>
          <p:nvPr/>
        </p:nvSpPr>
        <p:spPr>
          <a:xfrm>
            <a:off x="365760" y="1901952"/>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02</a:t>
            </a:r>
            <a:endParaRPr lang="en-US" sz="1400" dirty="0"/>
          </a:p>
        </p:txBody>
      </p:sp>
      <p:sp>
        <p:nvSpPr>
          <p:cNvPr id="11" name="Text 9"/>
          <p:cNvSpPr/>
          <p:nvPr/>
        </p:nvSpPr>
        <p:spPr>
          <a:xfrm>
            <a:off x="804672" y="1874520"/>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Data Preprocessing</a:t>
            </a:r>
            <a:endParaRPr lang="en-US" sz="1200" dirty="0"/>
          </a:p>
        </p:txBody>
      </p:sp>
      <p:sp>
        <p:nvSpPr>
          <p:cNvPr id="12" name="Text 10"/>
          <p:cNvSpPr/>
          <p:nvPr/>
        </p:nvSpPr>
        <p:spPr>
          <a:xfrm>
            <a:off x="804672" y="2130552"/>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CLAHE normalisation, crop filtering, HOG feature extraction</a:t>
            </a:r>
            <a:endParaRPr lang="en-US" sz="950" dirty="0"/>
          </a:p>
        </p:txBody>
      </p:sp>
      <p:sp>
        <p:nvSpPr>
          <p:cNvPr id="13" name="Shape 11"/>
          <p:cNvSpPr/>
          <p:nvPr/>
        </p:nvSpPr>
        <p:spPr>
          <a:xfrm>
            <a:off x="274320" y="2578608"/>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14" name="Text 12"/>
          <p:cNvSpPr/>
          <p:nvPr/>
        </p:nvSpPr>
        <p:spPr>
          <a:xfrm>
            <a:off x="365760" y="2651760"/>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03</a:t>
            </a:r>
            <a:endParaRPr lang="en-US" sz="1400" dirty="0"/>
          </a:p>
        </p:txBody>
      </p:sp>
      <p:sp>
        <p:nvSpPr>
          <p:cNvPr id="15" name="Text 13"/>
          <p:cNvSpPr/>
          <p:nvPr/>
        </p:nvSpPr>
        <p:spPr>
          <a:xfrm>
            <a:off x="804672" y="2624328"/>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Dataset Analysis</a:t>
            </a:r>
            <a:endParaRPr lang="en-US" sz="1200" dirty="0"/>
          </a:p>
        </p:txBody>
      </p:sp>
      <p:sp>
        <p:nvSpPr>
          <p:cNvPr id="16" name="Text 14"/>
          <p:cNvSpPr/>
          <p:nvPr/>
        </p:nvSpPr>
        <p:spPr>
          <a:xfrm>
            <a:off x="804672" y="2880360"/>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Class imbalance, scale, occlusion, spatial &amp; temporal statistics</a:t>
            </a:r>
            <a:endParaRPr lang="en-US" sz="950" dirty="0"/>
          </a:p>
        </p:txBody>
      </p:sp>
      <p:sp>
        <p:nvSpPr>
          <p:cNvPr id="17" name="Shape 15"/>
          <p:cNvSpPr/>
          <p:nvPr/>
        </p:nvSpPr>
        <p:spPr>
          <a:xfrm>
            <a:off x="274320" y="3328416"/>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18" name="Text 16"/>
          <p:cNvSpPr/>
          <p:nvPr/>
        </p:nvSpPr>
        <p:spPr>
          <a:xfrm>
            <a:off x="365760" y="3401568"/>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04</a:t>
            </a:r>
            <a:endParaRPr lang="en-US" sz="1400" dirty="0"/>
          </a:p>
        </p:txBody>
      </p:sp>
      <p:sp>
        <p:nvSpPr>
          <p:cNvPr id="19" name="Text 17"/>
          <p:cNvSpPr/>
          <p:nvPr/>
        </p:nvSpPr>
        <p:spPr>
          <a:xfrm>
            <a:off x="804672" y="3374136"/>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Models Used</a:t>
            </a:r>
            <a:endParaRPr lang="en-US" sz="1200" dirty="0"/>
          </a:p>
        </p:txBody>
      </p:sp>
      <p:sp>
        <p:nvSpPr>
          <p:cNvPr id="20" name="Text 18"/>
          <p:cNvSpPr/>
          <p:nvPr/>
        </p:nvSpPr>
        <p:spPr>
          <a:xfrm>
            <a:off x="804672" y="3630168"/>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HOG+SVM, HOG+Random Forest, ResNet18 with Focal Loss</a:t>
            </a:r>
            <a:endParaRPr lang="en-US" sz="950" dirty="0"/>
          </a:p>
        </p:txBody>
      </p:sp>
      <p:sp>
        <p:nvSpPr>
          <p:cNvPr id="21" name="Shape 19"/>
          <p:cNvSpPr/>
          <p:nvPr/>
        </p:nvSpPr>
        <p:spPr>
          <a:xfrm>
            <a:off x="274320" y="4078224"/>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22" name="Text 20"/>
          <p:cNvSpPr/>
          <p:nvPr/>
        </p:nvSpPr>
        <p:spPr>
          <a:xfrm>
            <a:off x="365760" y="4151376"/>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05</a:t>
            </a:r>
            <a:endParaRPr lang="en-US" sz="1400" dirty="0"/>
          </a:p>
        </p:txBody>
      </p:sp>
      <p:sp>
        <p:nvSpPr>
          <p:cNvPr id="23" name="Text 21"/>
          <p:cNvSpPr/>
          <p:nvPr/>
        </p:nvSpPr>
        <p:spPr>
          <a:xfrm>
            <a:off x="804672" y="4123944"/>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Train / Test Strategy</a:t>
            </a:r>
            <a:endParaRPr lang="en-US" sz="1200" dirty="0"/>
          </a:p>
        </p:txBody>
      </p:sp>
      <p:sp>
        <p:nvSpPr>
          <p:cNvPr id="24" name="Text 22"/>
          <p:cNvSpPr/>
          <p:nvPr/>
        </p:nvSpPr>
        <p:spPr>
          <a:xfrm>
            <a:off x="804672" y="4379976"/>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Track-aware partitioning — preventing identity leakage</a:t>
            </a:r>
            <a:endParaRPr lang="en-US" sz="950" dirty="0"/>
          </a:p>
        </p:txBody>
      </p:sp>
      <p:sp>
        <p:nvSpPr>
          <p:cNvPr id="25" name="Shape 23"/>
          <p:cNvSpPr/>
          <p:nvPr/>
        </p:nvSpPr>
        <p:spPr>
          <a:xfrm>
            <a:off x="4709160" y="1078992"/>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26" name="Text 24"/>
          <p:cNvSpPr/>
          <p:nvPr/>
        </p:nvSpPr>
        <p:spPr>
          <a:xfrm>
            <a:off x="4800600" y="1152144"/>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06</a:t>
            </a:r>
            <a:endParaRPr lang="en-US" sz="1400" dirty="0"/>
          </a:p>
        </p:txBody>
      </p:sp>
      <p:sp>
        <p:nvSpPr>
          <p:cNvPr id="27" name="Text 25"/>
          <p:cNvSpPr/>
          <p:nvPr/>
        </p:nvSpPr>
        <p:spPr>
          <a:xfrm>
            <a:off x="5239512" y="1124712"/>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Model Comparison &amp; Results</a:t>
            </a:r>
            <a:endParaRPr lang="en-US" sz="1200" dirty="0"/>
          </a:p>
        </p:txBody>
      </p:sp>
      <p:sp>
        <p:nvSpPr>
          <p:cNvPr id="28" name="Text 26"/>
          <p:cNvSpPr/>
          <p:nvPr/>
        </p:nvSpPr>
        <p:spPr>
          <a:xfrm>
            <a:off x="5239512" y="1380744"/>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Accuracy vs Macro-F1 inversion — the key finding</a:t>
            </a:r>
            <a:endParaRPr lang="en-US" sz="950" dirty="0"/>
          </a:p>
        </p:txBody>
      </p:sp>
      <p:sp>
        <p:nvSpPr>
          <p:cNvPr id="29" name="Shape 27"/>
          <p:cNvSpPr/>
          <p:nvPr/>
        </p:nvSpPr>
        <p:spPr>
          <a:xfrm>
            <a:off x="4709160" y="1828800"/>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30" name="Text 28"/>
          <p:cNvSpPr/>
          <p:nvPr/>
        </p:nvSpPr>
        <p:spPr>
          <a:xfrm>
            <a:off x="4800600" y="1901952"/>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07</a:t>
            </a:r>
            <a:endParaRPr lang="en-US" sz="1400" dirty="0"/>
          </a:p>
        </p:txBody>
      </p:sp>
      <p:sp>
        <p:nvSpPr>
          <p:cNvPr id="31" name="Text 29"/>
          <p:cNvSpPr/>
          <p:nvPr/>
        </p:nvSpPr>
        <p:spPr>
          <a:xfrm>
            <a:off x="5239512" y="1874520"/>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Best Accuracy &amp; Overfitting</a:t>
            </a:r>
            <a:endParaRPr lang="en-US" sz="1200" dirty="0"/>
          </a:p>
        </p:txBody>
      </p:sp>
      <p:sp>
        <p:nvSpPr>
          <p:cNvPr id="32" name="Text 30"/>
          <p:cNvSpPr/>
          <p:nvPr/>
        </p:nvSpPr>
        <p:spPr>
          <a:xfrm>
            <a:off x="5239512" y="2130552"/>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Where models excel and where they fail</a:t>
            </a:r>
            <a:endParaRPr lang="en-US" sz="950" dirty="0"/>
          </a:p>
        </p:txBody>
      </p:sp>
      <p:sp>
        <p:nvSpPr>
          <p:cNvPr id="33" name="Shape 31"/>
          <p:cNvSpPr/>
          <p:nvPr/>
        </p:nvSpPr>
        <p:spPr>
          <a:xfrm>
            <a:off x="4709160" y="2578608"/>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34" name="Text 32"/>
          <p:cNvSpPr/>
          <p:nvPr/>
        </p:nvSpPr>
        <p:spPr>
          <a:xfrm>
            <a:off x="4800600" y="2651760"/>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08</a:t>
            </a:r>
            <a:endParaRPr lang="en-US" sz="1400" dirty="0"/>
          </a:p>
        </p:txBody>
      </p:sp>
      <p:sp>
        <p:nvSpPr>
          <p:cNvPr id="35" name="Text 33"/>
          <p:cNvSpPr/>
          <p:nvPr/>
        </p:nvSpPr>
        <p:spPr>
          <a:xfrm>
            <a:off x="5239512" y="2624328"/>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t-SNE &amp; Grad-CAM</a:t>
            </a:r>
            <a:endParaRPr lang="en-US" sz="1200" dirty="0"/>
          </a:p>
        </p:txBody>
      </p:sp>
      <p:sp>
        <p:nvSpPr>
          <p:cNvPr id="36" name="Text 34"/>
          <p:cNvSpPr/>
          <p:nvPr/>
        </p:nvSpPr>
        <p:spPr>
          <a:xfrm>
            <a:off x="5239512" y="2880360"/>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Mechanistic interpretability of feature spaces</a:t>
            </a:r>
            <a:endParaRPr lang="en-US" sz="950" dirty="0"/>
          </a:p>
        </p:txBody>
      </p:sp>
      <p:sp>
        <p:nvSpPr>
          <p:cNvPr id="37" name="Shape 35"/>
          <p:cNvSpPr/>
          <p:nvPr/>
        </p:nvSpPr>
        <p:spPr>
          <a:xfrm>
            <a:off x="4709160" y="3328416"/>
            <a:ext cx="4251960" cy="621792"/>
          </a:xfrm>
          <a:prstGeom prst="roundRect">
            <a:avLst>
              <a:gd name="adj" fmla="val 11765"/>
            </a:avLst>
          </a:prstGeom>
          <a:solidFill>
            <a:srgbClr val="E8F0FA"/>
          </a:solidFill>
          <a:ln/>
          <a:effectLst>
            <a:outerShdw sx="100000" sy="100000" kx="0" ky="0" algn="bl" rotWithShape="0" blurRad="101600" dist="38100" dir="2700000">
              <a:srgbClr val="000000">
                <a:alpha val="13000"/>
              </a:srgbClr>
            </a:outerShdw>
          </a:effectLst>
        </p:spPr>
      </p:sp>
      <p:sp>
        <p:nvSpPr>
          <p:cNvPr id="38" name="Text 36"/>
          <p:cNvSpPr/>
          <p:nvPr/>
        </p:nvSpPr>
        <p:spPr>
          <a:xfrm>
            <a:off x="4800600" y="3401568"/>
            <a:ext cx="384048" cy="438912"/>
          </a:xfrm>
          <a:prstGeom prst="rect">
            <a:avLst/>
          </a:prstGeom>
          <a:noFill/>
          <a:ln/>
        </p:spPr>
        <p:txBody>
          <a:bodyPr wrap="square" lIns="0" tIns="0" rIns="0" bIns="0" rtlCol="0" anchor="ctr"/>
          <a:lstStyle/>
          <a:p>
            <a:pPr indent="0" marL="0">
              <a:buNone/>
            </a:pPr>
            <a:r>
              <a:rPr lang="en-US" sz="1400" b="1" dirty="0">
                <a:solidFill>
                  <a:srgbClr val="0EA5E9"/>
                </a:solidFill>
                <a:latin typeface="Cambria" pitchFamily="34" charset="0"/>
                <a:ea typeface="Cambria" pitchFamily="34" charset="-122"/>
                <a:cs typeface="Cambria" pitchFamily="34" charset="-120"/>
              </a:rPr>
              <a:t>09</a:t>
            </a:r>
            <a:endParaRPr lang="en-US" sz="1400" dirty="0"/>
          </a:p>
        </p:txBody>
      </p:sp>
      <p:sp>
        <p:nvSpPr>
          <p:cNvPr id="39" name="Text 37"/>
          <p:cNvSpPr/>
          <p:nvPr/>
        </p:nvSpPr>
        <p:spPr>
          <a:xfrm>
            <a:off x="5239512" y="3374136"/>
            <a:ext cx="3566160" cy="274320"/>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Conclusions</a:t>
            </a:r>
            <a:endParaRPr lang="en-US" sz="1200" dirty="0"/>
          </a:p>
        </p:txBody>
      </p:sp>
      <p:sp>
        <p:nvSpPr>
          <p:cNvPr id="40" name="Text 38"/>
          <p:cNvSpPr/>
          <p:nvPr/>
        </p:nvSpPr>
        <p:spPr>
          <a:xfrm>
            <a:off x="5239512" y="3630168"/>
            <a:ext cx="356616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Recommendations and future directions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Dataset — Data Used</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VisDrone-MOT Sequence uav0000297_00000_v</a:t>
            </a:r>
            <a:endParaRPr lang="en-US" sz="1100" dirty="0"/>
          </a:p>
        </p:txBody>
      </p:sp>
      <p:sp>
        <p:nvSpPr>
          <p:cNvPr id="5" name="Shape 3"/>
          <p:cNvSpPr/>
          <p:nvPr/>
        </p:nvSpPr>
        <p:spPr>
          <a:xfrm>
            <a:off x="274320" y="1078992"/>
            <a:ext cx="1920240" cy="1234440"/>
          </a:xfrm>
          <a:prstGeom prst="roundRect">
            <a:avLst>
              <a:gd name="adj" fmla="val 5926"/>
            </a:avLst>
          </a:prstGeom>
          <a:solidFill>
            <a:srgbClr val="E8F0FA"/>
          </a:solidFill>
          <a:ln/>
          <a:effectLst>
            <a:outerShdw sx="100000" sy="100000" kx="0" ky="0" algn="bl" rotWithShape="0" blurRad="101600" dist="38100" dir="2700000">
              <a:srgbClr val="000000">
                <a:alpha val="13000"/>
              </a:srgbClr>
            </a:outerShdw>
          </a:effectLst>
        </p:spPr>
      </p:sp>
      <p:sp>
        <p:nvSpPr>
          <p:cNvPr id="6" name="Text 4"/>
          <p:cNvSpPr/>
          <p:nvPr/>
        </p:nvSpPr>
        <p:spPr>
          <a:xfrm>
            <a:off x="274320" y="1152144"/>
            <a:ext cx="1920240" cy="658368"/>
          </a:xfrm>
          <a:prstGeom prst="rect">
            <a:avLst/>
          </a:prstGeom>
          <a:noFill/>
          <a:ln/>
        </p:spPr>
        <p:txBody>
          <a:bodyPr wrap="square" lIns="0" tIns="0" rIns="0" bIns="0" rtlCol="0" anchor="ctr"/>
          <a:lstStyle/>
          <a:p>
            <a:pPr algn="ctr" indent="0" marL="0">
              <a:buNone/>
            </a:pPr>
            <a:r>
              <a:rPr lang="en-US" sz="3000" b="1" dirty="0">
                <a:solidFill>
                  <a:srgbClr val="1B4F8A"/>
                </a:solidFill>
                <a:latin typeface="Cambria" pitchFamily="34" charset="0"/>
                <a:ea typeface="Cambria" pitchFamily="34" charset="-122"/>
                <a:cs typeface="Cambria" pitchFamily="34" charset="-120"/>
              </a:rPr>
              <a:t>8,842</a:t>
            </a:r>
            <a:endParaRPr lang="en-US" sz="3000" dirty="0"/>
          </a:p>
        </p:txBody>
      </p:sp>
      <p:sp>
        <p:nvSpPr>
          <p:cNvPr id="7" name="Text 5"/>
          <p:cNvSpPr/>
          <p:nvPr/>
        </p:nvSpPr>
        <p:spPr>
          <a:xfrm>
            <a:off x="274320" y="1810512"/>
            <a:ext cx="192024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Total Object Crops</a:t>
            </a:r>
            <a:endParaRPr lang="en-US" sz="1100" dirty="0"/>
          </a:p>
        </p:txBody>
      </p:sp>
      <p:sp>
        <p:nvSpPr>
          <p:cNvPr id="8" name="Shape 6"/>
          <p:cNvSpPr/>
          <p:nvPr/>
        </p:nvSpPr>
        <p:spPr>
          <a:xfrm>
            <a:off x="2331720" y="1078992"/>
            <a:ext cx="1920240" cy="1234440"/>
          </a:xfrm>
          <a:prstGeom prst="roundRect">
            <a:avLst>
              <a:gd name="adj" fmla="val 5926"/>
            </a:avLst>
          </a:prstGeom>
          <a:solidFill>
            <a:srgbClr val="E8F0FA"/>
          </a:solidFill>
          <a:ln/>
          <a:effectLst>
            <a:outerShdw sx="100000" sy="100000" kx="0" ky="0" algn="bl" rotWithShape="0" blurRad="101600" dist="38100" dir="2700000">
              <a:srgbClr val="000000">
                <a:alpha val="13000"/>
              </a:srgbClr>
            </a:outerShdw>
          </a:effectLst>
        </p:spPr>
      </p:sp>
      <p:sp>
        <p:nvSpPr>
          <p:cNvPr id="9" name="Text 7"/>
          <p:cNvSpPr/>
          <p:nvPr/>
        </p:nvSpPr>
        <p:spPr>
          <a:xfrm>
            <a:off x="2331720" y="1152144"/>
            <a:ext cx="1920240" cy="658368"/>
          </a:xfrm>
          <a:prstGeom prst="rect">
            <a:avLst/>
          </a:prstGeom>
          <a:noFill/>
          <a:ln/>
        </p:spPr>
        <p:txBody>
          <a:bodyPr wrap="square" lIns="0" tIns="0" rIns="0" bIns="0" rtlCol="0" anchor="ctr"/>
          <a:lstStyle/>
          <a:p>
            <a:pPr algn="ctr" indent="0" marL="0">
              <a:buNone/>
            </a:pPr>
            <a:r>
              <a:rPr lang="en-US" sz="3000" b="1" dirty="0">
                <a:solidFill>
                  <a:srgbClr val="1B4F8A"/>
                </a:solidFill>
                <a:latin typeface="Cambria" pitchFamily="34" charset="0"/>
                <a:ea typeface="Cambria" pitchFamily="34" charset="-122"/>
                <a:cs typeface="Cambria" pitchFamily="34" charset="-120"/>
              </a:rPr>
              <a:t>146</a:t>
            </a:r>
            <a:endParaRPr lang="en-US" sz="3000" dirty="0"/>
          </a:p>
        </p:txBody>
      </p:sp>
      <p:sp>
        <p:nvSpPr>
          <p:cNvPr id="10" name="Text 8"/>
          <p:cNvSpPr/>
          <p:nvPr/>
        </p:nvSpPr>
        <p:spPr>
          <a:xfrm>
            <a:off x="2331720" y="1810512"/>
            <a:ext cx="192024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Video Frames</a:t>
            </a:r>
            <a:endParaRPr lang="en-US" sz="1100" dirty="0"/>
          </a:p>
        </p:txBody>
      </p:sp>
      <p:sp>
        <p:nvSpPr>
          <p:cNvPr id="11" name="Shape 9"/>
          <p:cNvSpPr/>
          <p:nvPr/>
        </p:nvSpPr>
        <p:spPr>
          <a:xfrm>
            <a:off x="274320" y="2450592"/>
            <a:ext cx="1920240" cy="1234440"/>
          </a:xfrm>
          <a:prstGeom prst="roundRect">
            <a:avLst>
              <a:gd name="adj" fmla="val 5926"/>
            </a:avLst>
          </a:prstGeom>
          <a:solidFill>
            <a:srgbClr val="E8F0FA"/>
          </a:solidFill>
          <a:ln/>
          <a:effectLst>
            <a:outerShdw sx="100000" sy="100000" kx="0" ky="0" algn="bl" rotWithShape="0" blurRad="101600" dist="38100" dir="2700000">
              <a:srgbClr val="000000">
                <a:alpha val="13000"/>
              </a:srgbClr>
            </a:outerShdw>
          </a:effectLst>
        </p:spPr>
      </p:sp>
      <p:sp>
        <p:nvSpPr>
          <p:cNvPr id="12" name="Text 10"/>
          <p:cNvSpPr/>
          <p:nvPr/>
        </p:nvSpPr>
        <p:spPr>
          <a:xfrm>
            <a:off x="274320" y="2523744"/>
            <a:ext cx="1920240" cy="658368"/>
          </a:xfrm>
          <a:prstGeom prst="rect">
            <a:avLst/>
          </a:prstGeom>
          <a:noFill/>
          <a:ln/>
        </p:spPr>
        <p:txBody>
          <a:bodyPr wrap="square" lIns="0" tIns="0" rIns="0" bIns="0" rtlCol="0" anchor="ctr"/>
          <a:lstStyle/>
          <a:p>
            <a:pPr algn="ctr" indent="0" marL="0">
              <a:buNone/>
            </a:pPr>
            <a:r>
              <a:rPr lang="en-US" sz="3000" b="1" dirty="0">
                <a:solidFill>
                  <a:srgbClr val="1B4F8A"/>
                </a:solidFill>
                <a:latin typeface="Cambria" pitchFamily="34" charset="0"/>
                <a:ea typeface="Cambria" pitchFamily="34" charset="-122"/>
                <a:cs typeface="Cambria" pitchFamily="34" charset="-120"/>
              </a:rPr>
              <a:t>7</a:t>
            </a:r>
            <a:endParaRPr lang="en-US" sz="3000" dirty="0"/>
          </a:p>
        </p:txBody>
      </p:sp>
      <p:sp>
        <p:nvSpPr>
          <p:cNvPr id="13" name="Text 11"/>
          <p:cNvSpPr/>
          <p:nvPr/>
        </p:nvSpPr>
        <p:spPr>
          <a:xfrm>
            <a:off x="274320" y="3182112"/>
            <a:ext cx="192024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Active Classes</a:t>
            </a:r>
            <a:endParaRPr lang="en-US" sz="1100" dirty="0"/>
          </a:p>
        </p:txBody>
      </p:sp>
      <p:sp>
        <p:nvSpPr>
          <p:cNvPr id="14" name="Shape 12"/>
          <p:cNvSpPr/>
          <p:nvPr/>
        </p:nvSpPr>
        <p:spPr>
          <a:xfrm>
            <a:off x="2331720" y="2450592"/>
            <a:ext cx="1920240" cy="1234440"/>
          </a:xfrm>
          <a:prstGeom prst="roundRect">
            <a:avLst>
              <a:gd name="adj" fmla="val 5926"/>
            </a:avLst>
          </a:prstGeom>
          <a:solidFill>
            <a:srgbClr val="E8F0FA"/>
          </a:solidFill>
          <a:ln/>
          <a:effectLst>
            <a:outerShdw sx="100000" sy="100000" kx="0" ky="0" algn="bl" rotWithShape="0" blurRad="101600" dist="38100" dir="2700000">
              <a:srgbClr val="000000">
                <a:alpha val="13000"/>
              </a:srgbClr>
            </a:outerShdw>
          </a:effectLst>
        </p:spPr>
      </p:sp>
      <p:sp>
        <p:nvSpPr>
          <p:cNvPr id="15" name="Text 13"/>
          <p:cNvSpPr/>
          <p:nvPr/>
        </p:nvSpPr>
        <p:spPr>
          <a:xfrm>
            <a:off x="2331720" y="2523744"/>
            <a:ext cx="1920240" cy="658368"/>
          </a:xfrm>
          <a:prstGeom prst="rect">
            <a:avLst/>
          </a:prstGeom>
          <a:noFill/>
          <a:ln/>
        </p:spPr>
        <p:txBody>
          <a:bodyPr wrap="square" lIns="0" tIns="0" rIns="0" bIns="0" rtlCol="0" anchor="ctr"/>
          <a:lstStyle/>
          <a:p>
            <a:pPr algn="ctr" indent="0" marL="0">
              <a:buNone/>
            </a:pPr>
            <a:r>
              <a:rPr lang="en-US" sz="3000" b="1" dirty="0">
                <a:solidFill>
                  <a:srgbClr val="EF4444"/>
                </a:solidFill>
                <a:latin typeface="Cambria" pitchFamily="34" charset="0"/>
                <a:ea typeface="Cambria" pitchFamily="34" charset="-122"/>
                <a:cs typeface="Cambria" pitchFamily="34" charset="-120"/>
              </a:rPr>
              <a:t>41.6×</a:t>
            </a:r>
            <a:endParaRPr lang="en-US" sz="3000" dirty="0"/>
          </a:p>
        </p:txBody>
      </p:sp>
      <p:sp>
        <p:nvSpPr>
          <p:cNvPr id="16" name="Text 14"/>
          <p:cNvSpPr/>
          <p:nvPr/>
        </p:nvSpPr>
        <p:spPr>
          <a:xfrm>
            <a:off x="2331720" y="3182112"/>
            <a:ext cx="192024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Max Class Imbalance</a:t>
            </a:r>
            <a:endParaRPr lang="en-US" sz="1100" dirty="0"/>
          </a:p>
        </p:txBody>
      </p:sp>
      <p:sp>
        <p:nvSpPr>
          <p:cNvPr id="17" name="Shape 15"/>
          <p:cNvSpPr/>
          <p:nvPr/>
        </p:nvSpPr>
        <p:spPr>
          <a:xfrm>
            <a:off x="274320" y="3822192"/>
            <a:ext cx="1920240" cy="1234440"/>
          </a:xfrm>
          <a:prstGeom prst="roundRect">
            <a:avLst>
              <a:gd name="adj" fmla="val 5926"/>
            </a:avLst>
          </a:prstGeom>
          <a:solidFill>
            <a:srgbClr val="E8F0FA"/>
          </a:solidFill>
          <a:ln/>
          <a:effectLst>
            <a:outerShdw sx="100000" sy="100000" kx="0" ky="0" algn="bl" rotWithShape="0" blurRad="101600" dist="38100" dir="2700000">
              <a:srgbClr val="000000">
                <a:alpha val="13000"/>
              </a:srgbClr>
            </a:outerShdw>
          </a:effectLst>
        </p:spPr>
      </p:sp>
      <p:sp>
        <p:nvSpPr>
          <p:cNvPr id="18" name="Text 16"/>
          <p:cNvSpPr/>
          <p:nvPr/>
        </p:nvSpPr>
        <p:spPr>
          <a:xfrm>
            <a:off x="274320" y="3895344"/>
            <a:ext cx="1920240" cy="658368"/>
          </a:xfrm>
          <a:prstGeom prst="rect">
            <a:avLst/>
          </a:prstGeom>
          <a:noFill/>
          <a:ln/>
        </p:spPr>
        <p:txBody>
          <a:bodyPr wrap="square" lIns="0" tIns="0" rIns="0" bIns="0" rtlCol="0" anchor="ctr"/>
          <a:lstStyle/>
          <a:p>
            <a:pPr algn="ctr" indent="0" marL="0">
              <a:buNone/>
            </a:pPr>
            <a:r>
              <a:rPr lang="en-US" sz="3000" b="1" dirty="0">
                <a:solidFill>
                  <a:srgbClr val="1B4F8A"/>
                </a:solidFill>
                <a:latin typeface="Cambria" pitchFamily="34" charset="0"/>
                <a:ea typeface="Cambria" pitchFamily="34" charset="-122"/>
                <a:cs typeface="Cambria" pitchFamily="34" charset="-120"/>
              </a:rPr>
              <a:t>40–60m</a:t>
            </a:r>
            <a:endParaRPr lang="en-US" sz="3000" dirty="0"/>
          </a:p>
        </p:txBody>
      </p:sp>
      <p:sp>
        <p:nvSpPr>
          <p:cNvPr id="19" name="Text 17"/>
          <p:cNvSpPr/>
          <p:nvPr/>
        </p:nvSpPr>
        <p:spPr>
          <a:xfrm>
            <a:off x="274320" y="4553712"/>
            <a:ext cx="192024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UAV Altitude</a:t>
            </a:r>
            <a:endParaRPr lang="en-US" sz="1100" dirty="0"/>
          </a:p>
        </p:txBody>
      </p:sp>
      <p:sp>
        <p:nvSpPr>
          <p:cNvPr id="20" name="Shape 18"/>
          <p:cNvSpPr/>
          <p:nvPr/>
        </p:nvSpPr>
        <p:spPr>
          <a:xfrm>
            <a:off x="2331720" y="3822192"/>
            <a:ext cx="1920240" cy="1234440"/>
          </a:xfrm>
          <a:prstGeom prst="roundRect">
            <a:avLst>
              <a:gd name="adj" fmla="val 5926"/>
            </a:avLst>
          </a:prstGeom>
          <a:solidFill>
            <a:srgbClr val="E8F0FA"/>
          </a:solidFill>
          <a:ln/>
          <a:effectLst>
            <a:outerShdw sx="100000" sy="100000" kx="0" ky="0" algn="bl" rotWithShape="0" blurRad="101600" dist="38100" dir="2700000">
              <a:srgbClr val="000000">
                <a:alpha val="13000"/>
              </a:srgbClr>
            </a:outerShdw>
          </a:effectLst>
        </p:spPr>
      </p:sp>
      <p:sp>
        <p:nvSpPr>
          <p:cNvPr id="21" name="Text 19"/>
          <p:cNvSpPr/>
          <p:nvPr/>
        </p:nvSpPr>
        <p:spPr>
          <a:xfrm>
            <a:off x="2331720" y="3895344"/>
            <a:ext cx="1920240" cy="658368"/>
          </a:xfrm>
          <a:prstGeom prst="rect">
            <a:avLst/>
          </a:prstGeom>
          <a:noFill/>
          <a:ln/>
        </p:spPr>
        <p:txBody>
          <a:bodyPr wrap="square" lIns="0" tIns="0" rIns="0" bIns="0" rtlCol="0" anchor="ctr"/>
          <a:lstStyle/>
          <a:p>
            <a:pPr algn="ctr" indent="0" marL="0">
              <a:buNone/>
            </a:pPr>
            <a:r>
              <a:rPr lang="en-US" sz="3000" b="1" dirty="0">
                <a:solidFill>
                  <a:srgbClr val="1B4F8A"/>
                </a:solidFill>
                <a:latin typeface="Cambria" pitchFamily="34" charset="0"/>
                <a:ea typeface="Cambria" pitchFamily="34" charset="-122"/>
                <a:cs typeface="Cambria" pitchFamily="34" charset="-120"/>
              </a:rPr>
              <a:t>2000×1500px</a:t>
            </a:r>
            <a:endParaRPr lang="en-US" sz="3000" dirty="0"/>
          </a:p>
        </p:txBody>
      </p:sp>
      <p:sp>
        <p:nvSpPr>
          <p:cNvPr id="22" name="Text 20"/>
          <p:cNvSpPr/>
          <p:nvPr/>
        </p:nvSpPr>
        <p:spPr>
          <a:xfrm>
            <a:off x="2331720" y="4553712"/>
            <a:ext cx="192024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Frame Resolution</a:t>
            </a:r>
            <a:endParaRPr lang="en-US" sz="1100" dirty="0"/>
          </a:p>
        </p:txBody>
      </p:sp>
      <p:sp>
        <p:nvSpPr>
          <p:cNvPr id="23" name="Shape 21"/>
          <p:cNvSpPr/>
          <p:nvPr/>
        </p:nvSpPr>
        <p:spPr>
          <a:xfrm>
            <a:off x="4572000" y="1078992"/>
            <a:ext cx="4297680" cy="3657600"/>
          </a:xfrm>
          <a:prstGeom prst="roundRect">
            <a:avLst>
              <a:gd name="adj" fmla="val 2000"/>
            </a:avLst>
          </a:prstGeom>
          <a:solidFill>
            <a:srgbClr val="E8F0FA"/>
          </a:solidFill>
          <a:ln/>
          <a:effectLst>
            <a:outerShdw sx="100000" sy="100000" kx="0" ky="0" algn="bl" rotWithShape="0" blurRad="101600" dist="38100" dir="2700000">
              <a:srgbClr val="000000">
                <a:alpha val="13000"/>
              </a:srgbClr>
            </a:outerShdw>
          </a:effectLst>
        </p:spPr>
      </p:sp>
      <p:sp>
        <p:nvSpPr>
          <p:cNvPr id="24" name="Text 22"/>
          <p:cNvSpPr/>
          <p:nvPr/>
        </p:nvSpPr>
        <p:spPr>
          <a:xfrm>
            <a:off x="4663440" y="1115568"/>
            <a:ext cx="4114800" cy="320040"/>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Class Distribution</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663440" y="1481328"/>
          <a:ext cx="4114800" cy="3017520"/>
        </p:xfrm>
        <a:graphic>
          <a:graphicData uri="http://schemas.openxmlformats.org/drawingml/2006/table">
            <a:tbl>
              <a:tblPr/>
              <a:tblGrid>
                <a:gridCol w="1645920"/>
                <a:gridCol w="1280160"/>
                <a:gridCol w="118872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Crops</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Imbalance</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r>
              <a:tr h="347472">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Car</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4,329</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Pedestrian</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3,177</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1.36×</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Motor</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347</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People</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333</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13.0×</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Bus</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Van</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254</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17.0×</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Bicycle</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104</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41.6×</a:t>
                      </a:r>
                      <a:endParaRPr lang="en-US" sz="1100" dirty="0">
                        <a:latin typeface="Calibri" charset="0"/>
                        <a:ea typeface="Calibri" charset="0"/>
                        <a:cs typeface="Calibri" charset="0"/>
                      </a:endParaRPr>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 Preprocessing</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Filtering, normalisation, feature extraction, and oversampling</a:t>
            </a:r>
            <a:endParaRPr lang="en-US" sz="1100" dirty="0"/>
          </a:p>
        </p:txBody>
      </p:sp>
      <p:sp>
        <p:nvSpPr>
          <p:cNvPr id="5" name="Shape 3"/>
          <p:cNvSpPr/>
          <p:nvPr/>
        </p:nvSpPr>
        <p:spPr>
          <a:xfrm>
            <a:off x="228600" y="107899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6" name="Shape 4"/>
          <p:cNvSpPr/>
          <p:nvPr/>
        </p:nvSpPr>
        <p:spPr>
          <a:xfrm>
            <a:off x="320040" y="1170432"/>
            <a:ext cx="347472" cy="347472"/>
          </a:xfrm>
          <a:prstGeom prst="roundRect">
            <a:avLst>
              <a:gd name="adj" fmla="val 13158"/>
            </a:avLst>
          </a:prstGeom>
          <a:solidFill>
            <a:srgbClr val="1B4F8A"/>
          </a:solidFill>
          <a:ln/>
        </p:spPr>
      </p:sp>
      <p:sp>
        <p:nvSpPr>
          <p:cNvPr id="7" name="Text 5"/>
          <p:cNvSpPr/>
          <p:nvPr/>
        </p:nvSpPr>
        <p:spPr>
          <a:xfrm>
            <a:off x="320040" y="11704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8" name="Text 6"/>
          <p:cNvSpPr/>
          <p:nvPr/>
        </p:nvSpPr>
        <p:spPr>
          <a:xfrm>
            <a:off x="758952" y="1152144"/>
            <a:ext cx="3630168"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Quality Filtering</a:t>
            </a:r>
            <a:endParaRPr lang="en-US" sz="1200" dirty="0"/>
          </a:p>
        </p:txBody>
      </p:sp>
      <p:sp>
        <p:nvSpPr>
          <p:cNvPr id="9" name="Text 7"/>
          <p:cNvSpPr/>
          <p:nvPr/>
        </p:nvSpPr>
        <p:spPr>
          <a:xfrm>
            <a:off x="758952" y="1426464"/>
            <a:ext cx="3630168"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Removed 1,394 zero-confidence detections and 61 crops below 16px minimum dimension threshold → 8,842 valid crops retained</a:t>
            </a:r>
            <a:endParaRPr lang="en-US" sz="1000" dirty="0"/>
          </a:p>
        </p:txBody>
      </p:sp>
      <p:sp>
        <p:nvSpPr>
          <p:cNvPr id="10" name="Shape 8"/>
          <p:cNvSpPr/>
          <p:nvPr/>
        </p:nvSpPr>
        <p:spPr>
          <a:xfrm>
            <a:off x="4709160" y="107899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11" name="Shape 9"/>
          <p:cNvSpPr/>
          <p:nvPr/>
        </p:nvSpPr>
        <p:spPr>
          <a:xfrm>
            <a:off x="4800600" y="1170432"/>
            <a:ext cx="347472" cy="347472"/>
          </a:xfrm>
          <a:prstGeom prst="roundRect">
            <a:avLst>
              <a:gd name="adj" fmla="val 13158"/>
            </a:avLst>
          </a:prstGeom>
          <a:solidFill>
            <a:srgbClr val="1B4F8A"/>
          </a:solidFill>
          <a:ln/>
        </p:spPr>
      </p:sp>
      <p:sp>
        <p:nvSpPr>
          <p:cNvPr id="12" name="Text 10"/>
          <p:cNvSpPr/>
          <p:nvPr/>
        </p:nvSpPr>
        <p:spPr>
          <a:xfrm>
            <a:off x="4800600" y="11704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3" name="Text 11"/>
          <p:cNvSpPr/>
          <p:nvPr/>
        </p:nvSpPr>
        <p:spPr>
          <a:xfrm>
            <a:off x="5239512" y="1152144"/>
            <a:ext cx="3630168"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CLAHE Normalisation</a:t>
            </a:r>
            <a:endParaRPr lang="en-US" sz="1200" dirty="0"/>
          </a:p>
        </p:txBody>
      </p:sp>
      <p:sp>
        <p:nvSpPr>
          <p:cNvPr id="14" name="Text 12"/>
          <p:cNvSpPr/>
          <p:nvPr/>
        </p:nvSpPr>
        <p:spPr>
          <a:xfrm>
            <a:off x="5239512" y="1426464"/>
            <a:ext cx="3630168"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Contrast-Limited Adaptive Histogram Equalisation (clip=2.0, tile=4×4) applied to all crops to normalise illumination variation at different UAV altitudes</a:t>
            </a:r>
            <a:endParaRPr lang="en-US" sz="1000" dirty="0"/>
          </a:p>
        </p:txBody>
      </p:sp>
      <p:sp>
        <p:nvSpPr>
          <p:cNvPr id="15" name="Shape 13"/>
          <p:cNvSpPr/>
          <p:nvPr/>
        </p:nvSpPr>
        <p:spPr>
          <a:xfrm>
            <a:off x="228600" y="240487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16" name="Shape 14"/>
          <p:cNvSpPr/>
          <p:nvPr/>
        </p:nvSpPr>
        <p:spPr>
          <a:xfrm>
            <a:off x="320040" y="2496312"/>
            <a:ext cx="347472" cy="347472"/>
          </a:xfrm>
          <a:prstGeom prst="roundRect">
            <a:avLst>
              <a:gd name="adj" fmla="val 13158"/>
            </a:avLst>
          </a:prstGeom>
          <a:solidFill>
            <a:srgbClr val="1B4F8A"/>
          </a:solidFill>
          <a:ln/>
        </p:spPr>
      </p:sp>
      <p:sp>
        <p:nvSpPr>
          <p:cNvPr id="17" name="Text 15"/>
          <p:cNvSpPr/>
          <p:nvPr/>
        </p:nvSpPr>
        <p:spPr>
          <a:xfrm>
            <a:off x="320040" y="24963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18" name="Text 16"/>
          <p:cNvSpPr/>
          <p:nvPr/>
        </p:nvSpPr>
        <p:spPr>
          <a:xfrm>
            <a:off x="758952" y="2478024"/>
            <a:ext cx="3630168"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Crop Resizing (HOG)</a:t>
            </a:r>
            <a:endParaRPr lang="en-US" sz="1200" dirty="0"/>
          </a:p>
        </p:txBody>
      </p:sp>
      <p:sp>
        <p:nvSpPr>
          <p:cNvPr id="19" name="Text 17"/>
          <p:cNvSpPr/>
          <p:nvPr/>
        </p:nvSpPr>
        <p:spPr>
          <a:xfrm>
            <a:off x="758952" y="2752344"/>
            <a:ext cx="3630168"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All crops resized to 64×64 pixels for HOG extraction; ResNet18 uses 96×96px input — the maximum fitting 16GB VRAM at batch size 64 with augmentation</a:t>
            </a:r>
            <a:endParaRPr lang="en-US" sz="1000" dirty="0"/>
          </a:p>
        </p:txBody>
      </p:sp>
      <p:sp>
        <p:nvSpPr>
          <p:cNvPr id="20" name="Shape 18"/>
          <p:cNvSpPr/>
          <p:nvPr/>
        </p:nvSpPr>
        <p:spPr>
          <a:xfrm>
            <a:off x="4709160" y="240487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21" name="Shape 19"/>
          <p:cNvSpPr/>
          <p:nvPr/>
        </p:nvSpPr>
        <p:spPr>
          <a:xfrm>
            <a:off x="4800600" y="2496312"/>
            <a:ext cx="347472" cy="347472"/>
          </a:xfrm>
          <a:prstGeom prst="roundRect">
            <a:avLst>
              <a:gd name="adj" fmla="val 13158"/>
            </a:avLst>
          </a:prstGeom>
          <a:solidFill>
            <a:srgbClr val="0EA5E9"/>
          </a:solidFill>
          <a:ln/>
        </p:spPr>
      </p:sp>
      <p:sp>
        <p:nvSpPr>
          <p:cNvPr id="22" name="Text 20"/>
          <p:cNvSpPr/>
          <p:nvPr/>
        </p:nvSpPr>
        <p:spPr>
          <a:xfrm>
            <a:off x="4800600" y="24963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23" name="Text 21"/>
          <p:cNvSpPr/>
          <p:nvPr/>
        </p:nvSpPr>
        <p:spPr>
          <a:xfrm>
            <a:off x="5239512" y="2478024"/>
            <a:ext cx="3630168"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HOG Feature Extraction</a:t>
            </a:r>
            <a:endParaRPr lang="en-US" sz="1200" dirty="0"/>
          </a:p>
        </p:txBody>
      </p:sp>
      <p:sp>
        <p:nvSpPr>
          <p:cNvPr id="24" name="Text 22"/>
          <p:cNvSpPr/>
          <p:nvPr/>
        </p:nvSpPr>
        <p:spPr>
          <a:xfrm>
            <a:off x="5239512" y="2752344"/>
            <a:ext cx="3630168"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9 orientation bins, 8×8 pixel cells, 2×2 cell blocks, L2-Hys normalisation → 1,764-dimensional feature vectors per crop</a:t>
            </a:r>
            <a:endParaRPr lang="en-US" sz="1000" dirty="0"/>
          </a:p>
        </p:txBody>
      </p:sp>
      <p:sp>
        <p:nvSpPr>
          <p:cNvPr id="25" name="Shape 23"/>
          <p:cNvSpPr/>
          <p:nvPr/>
        </p:nvSpPr>
        <p:spPr>
          <a:xfrm>
            <a:off x="228600" y="373075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26" name="Shape 24"/>
          <p:cNvSpPr/>
          <p:nvPr/>
        </p:nvSpPr>
        <p:spPr>
          <a:xfrm>
            <a:off x="320040" y="3822192"/>
            <a:ext cx="347472" cy="347472"/>
          </a:xfrm>
          <a:prstGeom prst="roundRect">
            <a:avLst>
              <a:gd name="adj" fmla="val 13158"/>
            </a:avLst>
          </a:prstGeom>
          <a:solidFill>
            <a:srgbClr val="0EA5E9"/>
          </a:solidFill>
          <a:ln/>
        </p:spPr>
      </p:sp>
      <p:sp>
        <p:nvSpPr>
          <p:cNvPr id="27" name="Text 25"/>
          <p:cNvSpPr/>
          <p:nvPr/>
        </p:nvSpPr>
        <p:spPr>
          <a:xfrm>
            <a:off x="320040" y="38221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05</a:t>
            </a:r>
            <a:endParaRPr lang="en-US" sz="1100" dirty="0"/>
          </a:p>
        </p:txBody>
      </p:sp>
      <p:sp>
        <p:nvSpPr>
          <p:cNvPr id="28" name="Text 26"/>
          <p:cNvSpPr/>
          <p:nvPr/>
        </p:nvSpPr>
        <p:spPr>
          <a:xfrm>
            <a:off x="758952" y="3803904"/>
            <a:ext cx="3630168"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Oversampling (HOG models)</a:t>
            </a:r>
            <a:endParaRPr lang="en-US" sz="1200" dirty="0"/>
          </a:p>
        </p:txBody>
      </p:sp>
      <p:sp>
        <p:nvSpPr>
          <p:cNvPr id="29" name="Text 27"/>
          <p:cNvSpPr/>
          <p:nvPr/>
        </p:nvSpPr>
        <p:spPr>
          <a:xfrm>
            <a:off x="758952" y="4078224"/>
            <a:ext cx="3630168"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RandomOverSampler generates 21,434 balanced samples (3,062 per class = car training count). Features StandardScaler-normalised to zero mean, unit variance</a:t>
            </a:r>
            <a:endParaRPr lang="en-US" sz="1000" dirty="0"/>
          </a:p>
        </p:txBody>
      </p:sp>
      <p:sp>
        <p:nvSpPr>
          <p:cNvPr id="30" name="Shape 28"/>
          <p:cNvSpPr/>
          <p:nvPr/>
        </p:nvSpPr>
        <p:spPr>
          <a:xfrm>
            <a:off x="4709160" y="373075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31" name="Shape 29"/>
          <p:cNvSpPr/>
          <p:nvPr/>
        </p:nvSpPr>
        <p:spPr>
          <a:xfrm>
            <a:off x="4800600" y="3822192"/>
            <a:ext cx="347472" cy="347472"/>
          </a:xfrm>
          <a:prstGeom prst="roundRect">
            <a:avLst>
              <a:gd name="adj" fmla="val 13158"/>
            </a:avLst>
          </a:prstGeom>
          <a:solidFill>
            <a:srgbClr val="22C55E"/>
          </a:solidFill>
          <a:ln/>
        </p:spPr>
      </p:sp>
      <p:sp>
        <p:nvSpPr>
          <p:cNvPr id="32" name="Text 30"/>
          <p:cNvSpPr/>
          <p:nvPr/>
        </p:nvSpPr>
        <p:spPr>
          <a:xfrm>
            <a:off x="4800600" y="38221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06</a:t>
            </a:r>
            <a:endParaRPr lang="en-US" sz="1100" dirty="0"/>
          </a:p>
        </p:txBody>
      </p:sp>
      <p:sp>
        <p:nvSpPr>
          <p:cNvPr id="33" name="Text 31"/>
          <p:cNvSpPr/>
          <p:nvPr/>
        </p:nvSpPr>
        <p:spPr>
          <a:xfrm>
            <a:off x="5239512" y="3803904"/>
            <a:ext cx="3630168"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ResNet18 Augmentation</a:t>
            </a:r>
            <a:endParaRPr lang="en-US" sz="1200" dirty="0"/>
          </a:p>
        </p:txBody>
      </p:sp>
      <p:sp>
        <p:nvSpPr>
          <p:cNvPr id="34" name="Text 32"/>
          <p:cNvSpPr/>
          <p:nvPr/>
        </p:nvSpPr>
        <p:spPr>
          <a:xfrm>
            <a:off x="5239512" y="4078224"/>
            <a:ext cx="3630168"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6 transforms: horizontal flip, rotation ±12°, colour jitter, Gaussian blur σ≈1.5, random erasing 20% — critical to prevent overfitting on duplicated minority crops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Dataset Analysis</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Scale, occlusion, spatial distribution, and temporal density</a:t>
            </a:r>
            <a:endParaRPr lang="en-US" sz="1100" dirty="0"/>
          </a:p>
        </p:txBody>
      </p:sp>
      <p:sp>
        <p:nvSpPr>
          <p:cNvPr id="5" name="Shape 3"/>
          <p:cNvSpPr/>
          <p:nvPr/>
        </p:nvSpPr>
        <p:spPr>
          <a:xfrm>
            <a:off x="228600" y="107899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6" name="Text 4"/>
          <p:cNvSpPr/>
          <p:nvPr/>
        </p:nvSpPr>
        <p:spPr>
          <a:xfrm>
            <a:off x="320040" y="1170432"/>
            <a:ext cx="41148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7" name="Text 5"/>
          <p:cNvSpPr/>
          <p:nvPr/>
        </p:nvSpPr>
        <p:spPr>
          <a:xfrm>
            <a:off x="795528" y="1152144"/>
            <a:ext cx="3593592"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Small Scale Problem</a:t>
            </a:r>
            <a:endParaRPr lang="en-US" sz="1200" dirty="0"/>
          </a:p>
        </p:txBody>
      </p:sp>
      <p:sp>
        <p:nvSpPr>
          <p:cNvPr id="8" name="Text 6"/>
          <p:cNvSpPr/>
          <p:nvPr/>
        </p:nvSpPr>
        <p:spPr>
          <a:xfrm>
            <a:off x="795528" y="1426464"/>
            <a:ext cx="3593592"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Majority of crops below 100×100px. Bicycle &amp; motor have long lower tails dipping below 32px quality threshold — where HOG descriptor fidelity degrades significantly.</a:t>
            </a:r>
            <a:endParaRPr lang="en-US" sz="1000" dirty="0"/>
          </a:p>
        </p:txBody>
      </p:sp>
      <p:sp>
        <p:nvSpPr>
          <p:cNvPr id="9" name="Shape 7"/>
          <p:cNvSpPr/>
          <p:nvPr/>
        </p:nvSpPr>
        <p:spPr>
          <a:xfrm>
            <a:off x="4709160" y="107899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10" name="Text 8"/>
          <p:cNvSpPr/>
          <p:nvPr/>
        </p:nvSpPr>
        <p:spPr>
          <a:xfrm>
            <a:off x="4800600" y="1170432"/>
            <a:ext cx="41148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1" name="Text 9"/>
          <p:cNvSpPr/>
          <p:nvPr/>
        </p:nvSpPr>
        <p:spPr>
          <a:xfrm>
            <a:off x="5276088" y="1152144"/>
            <a:ext cx="3593592"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Occlusion &amp; Truncation</a:t>
            </a:r>
            <a:endParaRPr lang="en-US" sz="1200" dirty="0"/>
          </a:p>
        </p:txBody>
      </p:sp>
      <p:sp>
        <p:nvSpPr>
          <p:cNvPr id="12" name="Text 10"/>
          <p:cNvSpPr/>
          <p:nvPr/>
        </p:nvSpPr>
        <p:spPr>
          <a:xfrm>
            <a:off x="5276088" y="1426464"/>
            <a:ext cx="3593592"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Bus and pedestrian show highest partial/heavy occlusion rates due to traffic clustering. Bus and van show elevated truncation — their large footprint hits frame edges more often.</a:t>
            </a:r>
            <a:endParaRPr lang="en-US" sz="1000" dirty="0"/>
          </a:p>
        </p:txBody>
      </p:sp>
      <p:sp>
        <p:nvSpPr>
          <p:cNvPr id="13" name="Shape 11"/>
          <p:cNvSpPr/>
          <p:nvPr/>
        </p:nvSpPr>
        <p:spPr>
          <a:xfrm>
            <a:off x="228600" y="240487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14" name="Text 12"/>
          <p:cNvSpPr/>
          <p:nvPr/>
        </p:nvSpPr>
        <p:spPr>
          <a:xfrm>
            <a:off x="320040" y="2496312"/>
            <a:ext cx="41148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5" name="Text 13"/>
          <p:cNvSpPr/>
          <p:nvPr/>
        </p:nvSpPr>
        <p:spPr>
          <a:xfrm>
            <a:off x="795528" y="2478024"/>
            <a:ext cx="3593592"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Spatial Non-Uniformity</a:t>
            </a:r>
            <a:endParaRPr lang="en-US" sz="1200" dirty="0"/>
          </a:p>
        </p:txBody>
      </p:sp>
      <p:sp>
        <p:nvSpPr>
          <p:cNvPr id="16" name="Text 14"/>
          <p:cNvSpPr/>
          <p:nvPr/>
        </p:nvSpPr>
        <p:spPr>
          <a:xfrm>
            <a:off x="795528" y="2752344"/>
            <a:ext cx="3593592"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Cars cluster along road lanes; pedestrians near pavements and crossings. Bicycle and motor overlap with pedestrian hotspots — a key confusion driver. Full-frame context would help but is discarded by crop-level classifiers.</a:t>
            </a:r>
            <a:endParaRPr lang="en-US" sz="1000" dirty="0"/>
          </a:p>
        </p:txBody>
      </p:sp>
      <p:sp>
        <p:nvSpPr>
          <p:cNvPr id="17" name="Shape 15"/>
          <p:cNvSpPr/>
          <p:nvPr/>
        </p:nvSpPr>
        <p:spPr>
          <a:xfrm>
            <a:off x="4709160" y="240487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18" name="Text 16"/>
          <p:cNvSpPr/>
          <p:nvPr/>
        </p:nvSpPr>
        <p:spPr>
          <a:xfrm>
            <a:off x="4800600" y="2496312"/>
            <a:ext cx="41148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9" name="Text 17"/>
          <p:cNvSpPr/>
          <p:nvPr/>
        </p:nvSpPr>
        <p:spPr>
          <a:xfrm>
            <a:off x="5276088" y="2478024"/>
            <a:ext cx="3593592"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Temporal Sparsity</a:t>
            </a:r>
            <a:endParaRPr lang="en-US" sz="1200" dirty="0"/>
          </a:p>
        </p:txBody>
      </p:sp>
      <p:sp>
        <p:nvSpPr>
          <p:cNvPr id="20" name="Text 18"/>
          <p:cNvSpPr/>
          <p:nvPr/>
        </p:nvSpPr>
        <p:spPr>
          <a:xfrm>
            <a:off x="5276088" y="2752344"/>
            <a:ext cx="3593592"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Object count per frame varies 30–80. Bicycle and motor appear intermittently and in very low counts per frame — directly causing track scarcity after track-aware splitting.</a:t>
            </a:r>
            <a:endParaRPr lang="en-US" sz="1000" dirty="0"/>
          </a:p>
        </p:txBody>
      </p:sp>
      <p:sp>
        <p:nvSpPr>
          <p:cNvPr id="21" name="Shape 19"/>
          <p:cNvSpPr/>
          <p:nvPr/>
        </p:nvSpPr>
        <p:spPr>
          <a:xfrm>
            <a:off x="228600" y="373075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22" name="Text 20"/>
          <p:cNvSpPr/>
          <p:nvPr/>
        </p:nvSpPr>
        <p:spPr>
          <a:xfrm>
            <a:off x="320040" y="3822192"/>
            <a:ext cx="41148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3" name="Text 21"/>
          <p:cNvSpPr/>
          <p:nvPr/>
        </p:nvSpPr>
        <p:spPr>
          <a:xfrm>
            <a:off x="795528" y="3803904"/>
            <a:ext cx="3593592"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Class Co-occurrence</a:t>
            </a:r>
            <a:endParaRPr lang="en-US" sz="1200" dirty="0"/>
          </a:p>
        </p:txBody>
      </p:sp>
      <p:sp>
        <p:nvSpPr>
          <p:cNvPr id="24" name="Text 22"/>
          <p:cNvSpPr/>
          <p:nvPr/>
        </p:nvSpPr>
        <p:spPr>
          <a:xfrm>
            <a:off x="795528" y="4078224"/>
            <a:ext cx="3593592"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Car and pedestrian are strongly positively correlated (co-occur in busy frames). Bicycle and motor are moderately correlated — shared road-lane positioning contributes to mutual confusion.</a:t>
            </a:r>
            <a:endParaRPr lang="en-US" sz="1000" dirty="0"/>
          </a:p>
        </p:txBody>
      </p:sp>
      <p:sp>
        <p:nvSpPr>
          <p:cNvPr id="25" name="Shape 23"/>
          <p:cNvSpPr/>
          <p:nvPr/>
        </p:nvSpPr>
        <p:spPr>
          <a:xfrm>
            <a:off x="4709160" y="3730752"/>
            <a:ext cx="4251960" cy="1170432"/>
          </a:xfrm>
          <a:prstGeom prst="roundRect">
            <a:avLst>
              <a:gd name="adj" fmla="val 6250"/>
            </a:avLst>
          </a:prstGeom>
          <a:solidFill>
            <a:srgbClr val="E8F0FA"/>
          </a:solidFill>
          <a:ln/>
          <a:effectLst>
            <a:outerShdw sx="100000" sy="100000" kx="0" ky="0" algn="bl" rotWithShape="0" blurRad="101600" dist="38100" dir="2700000">
              <a:srgbClr val="000000">
                <a:alpha val="13000"/>
              </a:srgbClr>
            </a:outerShdw>
          </a:effectLst>
        </p:spPr>
      </p:sp>
      <p:sp>
        <p:nvSpPr>
          <p:cNvPr id="26" name="Text 24"/>
          <p:cNvSpPr/>
          <p:nvPr/>
        </p:nvSpPr>
        <p:spPr>
          <a:xfrm>
            <a:off x="4800600" y="3822192"/>
            <a:ext cx="411480" cy="41148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5276088" y="3803904"/>
            <a:ext cx="3593592" cy="292608"/>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Key Challenge Summary</a:t>
            </a:r>
            <a:endParaRPr lang="en-US" sz="1200" dirty="0"/>
          </a:p>
        </p:txBody>
      </p:sp>
      <p:sp>
        <p:nvSpPr>
          <p:cNvPr id="28" name="Text 26"/>
          <p:cNvSpPr/>
          <p:nvPr/>
        </p:nvSpPr>
        <p:spPr>
          <a:xfrm>
            <a:off x="5276088" y="4078224"/>
            <a:ext cx="3593592" cy="7498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41.6× maximum imbalance + small scale + high occlusion + temporal sparsity = a genuinely difficult multi-class problem, not just an imbalance problem.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Train Data &amp; Track-Aware Partitioning</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The most consequential methodological decision</a:t>
            </a:r>
            <a:endParaRPr lang="en-US" sz="1100" dirty="0"/>
          </a:p>
        </p:txBody>
      </p:sp>
      <p:sp>
        <p:nvSpPr>
          <p:cNvPr id="5" name="Shape 3"/>
          <p:cNvSpPr/>
          <p:nvPr/>
        </p:nvSpPr>
        <p:spPr>
          <a:xfrm>
            <a:off x="228600" y="1078992"/>
            <a:ext cx="4251960" cy="3749040"/>
          </a:xfrm>
          <a:prstGeom prst="roundRect">
            <a:avLst>
              <a:gd name="adj" fmla="val 1951"/>
            </a:avLst>
          </a:prstGeom>
          <a:solidFill>
            <a:srgbClr val="E8F0FA"/>
          </a:solidFill>
          <a:ln/>
          <a:effectLst>
            <a:outerShdw sx="100000" sy="100000" kx="0" ky="0" algn="bl" rotWithShape="0" blurRad="101600" dist="38100" dir="2700000">
              <a:srgbClr val="000000">
                <a:alpha val="13000"/>
              </a:srgbClr>
            </a:outerShdw>
          </a:effectLst>
        </p:spPr>
      </p:sp>
      <p:sp>
        <p:nvSpPr>
          <p:cNvPr id="6" name="Text 4"/>
          <p:cNvSpPr/>
          <p:nvPr/>
        </p:nvSpPr>
        <p:spPr>
          <a:xfrm>
            <a:off x="365760" y="1143000"/>
            <a:ext cx="3977640" cy="347472"/>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The Leakage Problem</a:t>
            </a:r>
            <a:endParaRPr lang="en-US" sz="1400" dirty="0"/>
          </a:p>
        </p:txBody>
      </p:sp>
      <p:sp>
        <p:nvSpPr>
          <p:cNvPr id="7" name="Text 5"/>
          <p:cNvSpPr/>
          <p:nvPr/>
        </p:nvSpPr>
        <p:spPr>
          <a:xfrm>
            <a:off x="365760" y="1536192"/>
            <a:ext cx="3977640" cy="2011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Video sequences contain the same physical object across 80+ consecutive frames. A tracked car appearing in frames 1–80 contributes 80 nearly identical crops.
</a:t>
            </a:r>
            <a:pPr indent="0" marL="0">
              <a:buNone/>
            </a:pPr>
            <a:r>
              <a:rPr lang="en-US" sz="1100" b="1" dirty="0">
                <a:solidFill>
                  <a:srgbClr val="EF4444"/>
                </a:solidFill>
                <a:latin typeface="Calibri" pitchFamily="34" charset="0"/>
                <a:ea typeface="Calibri" pitchFamily="34" charset="-122"/>
                <a:cs typeface="Calibri" pitchFamily="34" charset="-120"/>
              </a:rPr>
              <a:t>❌  Random split: </a:t>
            </a:r>
            <a:pPr indent="0" marL="0">
              <a:buNone/>
            </a:pPr>
            <a:r>
              <a:rPr lang="en-US" sz="1100" dirty="0">
                <a:solidFill>
                  <a:srgbClr val="1E293B"/>
                </a:solidFill>
                <a:latin typeface="Calibri" pitchFamily="34" charset="0"/>
                <a:ea typeface="Calibri" pitchFamily="34" charset="-122"/>
                <a:cs typeface="Calibri" pitchFamily="34" charset="-120"/>
              </a:rPr>
              <a:t>same object identity in both train and test sets → model memorises appearances → inflated metrics.
</a:t>
            </a:r>
            <a:pPr indent="0" marL="0">
              <a:buNone/>
            </a:pPr>
            <a:r>
              <a:rPr lang="en-US" sz="1100" b="1" dirty="0">
                <a:solidFill>
                  <a:srgbClr val="22C55E"/>
                </a:solidFill>
                <a:latin typeface="Calibri" pitchFamily="34" charset="0"/>
                <a:ea typeface="Calibri" pitchFamily="34" charset="-122"/>
                <a:cs typeface="Calibri" pitchFamily="34" charset="-120"/>
              </a:rPr>
              <a:t>✅  Track-aware split: </a:t>
            </a:r>
            <a:pPr indent="0" marL="0">
              <a:buNone/>
            </a:pPr>
            <a:r>
              <a:rPr lang="en-US" sz="1100" dirty="0">
                <a:solidFill>
                  <a:srgbClr val="1E293B"/>
                </a:solidFill>
                <a:latin typeface="Calibri" pitchFamily="34" charset="0"/>
                <a:ea typeface="Calibri" pitchFamily="34" charset="-122"/>
                <a:cs typeface="Calibri" pitchFamily="34" charset="-120"/>
              </a:rPr>
              <a:t>all crops from one track_id go exclusively to train (80%) OR test (20%) — zero identity overlap guaranteed.</a:t>
            </a:r>
            <a:endParaRPr lang="en-US" sz="1100" dirty="0"/>
          </a:p>
        </p:txBody>
      </p:sp>
      <p:sp>
        <p:nvSpPr>
          <p:cNvPr id="8" name="Text 6"/>
          <p:cNvSpPr/>
          <p:nvPr/>
        </p:nvSpPr>
        <p:spPr>
          <a:xfrm>
            <a:off x="365760" y="3584448"/>
            <a:ext cx="3977640" cy="34747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Result: 6,632 train samples  |  2,210 test samples  (75% / 25%)</a:t>
            </a:r>
            <a:endParaRPr lang="en-US" sz="1050" dirty="0"/>
          </a:p>
        </p:txBody>
      </p:sp>
      <p:sp>
        <p:nvSpPr>
          <p:cNvPr id="9" name="Shape 7"/>
          <p:cNvSpPr/>
          <p:nvPr/>
        </p:nvSpPr>
        <p:spPr>
          <a:xfrm>
            <a:off x="4709160" y="1078992"/>
            <a:ext cx="4160520" cy="3749040"/>
          </a:xfrm>
          <a:prstGeom prst="roundRect">
            <a:avLst>
              <a:gd name="adj" fmla="val 1951"/>
            </a:avLst>
          </a:prstGeom>
          <a:solidFill>
            <a:srgbClr val="E8F0FA"/>
          </a:solidFill>
          <a:ln/>
          <a:effectLst>
            <a:outerShdw sx="100000" sy="100000" kx="0" ky="0" algn="bl" rotWithShape="0" blurRad="101600" dist="38100" dir="2700000">
              <a:srgbClr val="000000">
                <a:alpha val="13000"/>
              </a:srgbClr>
            </a:outerShdw>
          </a:effectLst>
        </p:spPr>
      </p:sp>
      <p:sp>
        <p:nvSpPr>
          <p:cNvPr id="10" name="Text 8"/>
          <p:cNvSpPr/>
          <p:nvPr/>
        </p:nvSpPr>
        <p:spPr>
          <a:xfrm>
            <a:off x="4800600" y="1143000"/>
            <a:ext cx="3977640" cy="347472"/>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Leakage Quantification — HOG+SVM</a:t>
            </a:r>
            <a:endParaRPr lang="en-US" sz="1200" dirty="0"/>
          </a:p>
        </p:txBody>
      </p:sp>
      <p:graphicFrame>
        <p:nvGraphicFramePr>
          <p:cNvPr id="11" name="Chart 0" descr=""/>
          <p:cNvGraphicFramePr/>
          <p:nvPr/>
        </p:nvGraphicFramePr>
        <p:xfrm>
          <a:off x="4800600" y="1536192"/>
          <a:ext cx="3977640" cy="301752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228600" y="4251960"/>
            <a:ext cx="1993392" cy="658368"/>
          </a:xfrm>
          <a:prstGeom prst="roundRect">
            <a:avLst>
              <a:gd name="adj" fmla="val 11111"/>
            </a:avLst>
          </a:prstGeom>
          <a:solidFill>
            <a:srgbClr val="EF4444"/>
          </a:solidFill>
          <a:ln/>
        </p:spPr>
      </p:sp>
      <p:sp>
        <p:nvSpPr>
          <p:cNvPr id="13" name="Text 10"/>
          <p:cNvSpPr/>
          <p:nvPr/>
        </p:nvSpPr>
        <p:spPr>
          <a:xfrm>
            <a:off x="228600" y="4251960"/>
            <a:ext cx="1993392"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+12.7pp
</a:t>
            </a:r>
            <a:pPr algn="ctr" indent="0" marL="0">
              <a:buNone/>
            </a:pPr>
            <a:r>
              <a:rPr lang="en-US" sz="900" dirty="0">
                <a:solidFill>
                  <a:srgbClr val="FFFFFF"/>
                </a:solidFill>
                <a:latin typeface="Cambria" pitchFamily="34" charset="0"/>
                <a:ea typeface="Cambria" pitchFamily="34" charset="-122"/>
                <a:cs typeface="Cambria" pitchFamily="34" charset="-120"/>
              </a:rPr>
              <a:t>Accuracy Inflation</a:t>
            </a:r>
            <a:endParaRPr lang="en-US" sz="1600" dirty="0"/>
          </a:p>
        </p:txBody>
      </p:sp>
      <p:sp>
        <p:nvSpPr>
          <p:cNvPr id="14" name="Shape 11"/>
          <p:cNvSpPr/>
          <p:nvPr/>
        </p:nvSpPr>
        <p:spPr>
          <a:xfrm>
            <a:off x="2331720" y="4251960"/>
            <a:ext cx="2148840" cy="658368"/>
          </a:xfrm>
          <a:prstGeom prst="roundRect">
            <a:avLst>
              <a:gd name="adj" fmla="val 11111"/>
            </a:avLst>
          </a:prstGeom>
          <a:solidFill>
            <a:srgbClr val="EF4444"/>
          </a:solidFill>
          <a:ln/>
        </p:spPr>
      </p:sp>
      <p:sp>
        <p:nvSpPr>
          <p:cNvPr id="15" name="Text 12"/>
          <p:cNvSpPr/>
          <p:nvPr/>
        </p:nvSpPr>
        <p:spPr>
          <a:xfrm>
            <a:off x="2331720" y="4251960"/>
            <a:ext cx="214884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+52.0pp
</a:t>
            </a:r>
            <a:pPr algn="ctr" indent="0" marL="0">
              <a:buNone/>
            </a:pPr>
            <a:r>
              <a:rPr lang="en-US" sz="900" dirty="0">
                <a:solidFill>
                  <a:srgbClr val="FFFFFF"/>
                </a:solidFill>
                <a:latin typeface="Cambria" pitchFamily="34" charset="0"/>
                <a:ea typeface="Cambria" pitchFamily="34" charset="-122"/>
                <a:cs typeface="Cambria" pitchFamily="34" charset="-120"/>
              </a:rPr>
              <a:t>Macro-F1 Inflation</a:t>
            </a:r>
            <a:endParaRPr lang="en-US" sz="1600" dirty="0"/>
          </a:p>
        </p:txBody>
      </p:sp>
      <p:sp>
        <p:nvSpPr>
          <p:cNvPr id="16" name="Shape 13"/>
          <p:cNvSpPr/>
          <p:nvPr/>
        </p:nvSpPr>
        <p:spPr>
          <a:xfrm>
            <a:off x="4617720" y="4251960"/>
            <a:ext cx="4251960" cy="658368"/>
          </a:xfrm>
          <a:prstGeom prst="roundRect">
            <a:avLst>
              <a:gd name="adj" fmla="val 11111"/>
            </a:avLst>
          </a:prstGeom>
          <a:solidFill>
            <a:srgbClr val="0D1B2A"/>
          </a:solidFill>
          <a:ln/>
        </p:spPr>
      </p:sp>
      <p:sp>
        <p:nvSpPr>
          <p:cNvPr id="17" name="Text 14"/>
          <p:cNvSpPr/>
          <p:nvPr/>
        </p:nvSpPr>
        <p:spPr>
          <a:xfrm>
            <a:off x="4617720" y="4251960"/>
            <a:ext cx="4251960" cy="658368"/>
          </a:xfrm>
          <a:prstGeom prst="rect">
            <a:avLst/>
          </a:prstGeom>
          <a:noFill/>
          <a:ln/>
        </p:spPr>
        <p:txBody>
          <a:bodyPr wrap="square" lIns="0" tIns="0" rIns="0" bIns="0" rtlCol="0" anchor="ctr"/>
          <a:lstStyle/>
          <a:p>
            <a:pPr algn="ctr" indent="0" marL="0">
              <a:buNone/>
            </a:pPr>
            <a:r>
              <a:rPr lang="en-US" sz="1100" b="1" dirty="0">
                <a:solidFill>
                  <a:srgbClr val="0EA5E9"/>
                </a:solidFill>
                <a:latin typeface="Cambria" pitchFamily="34" charset="0"/>
                <a:ea typeface="Cambria" pitchFamily="34" charset="-122"/>
                <a:cs typeface="Cambria" pitchFamily="34" charset="-120"/>
              </a:rPr>
              <a:t>Largest leakage effect documented in UAV crop classification literature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Models Used</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Three classification pipelines evaluated</a:t>
            </a:r>
            <a:endParaRPr lang="en-US" sz="1100" dirty="0"/>
          </a:p>
        </p:txBody>
      </p:sp>
      <p:sp>
        <p:nvSpPr>
          <p:cNvPr id="5" name="Shape 3"/>
          <p:cNvSpPr/>
          <p:nvPr/>
        </p:nvSpPr>
        <p:spPr>
          <a:xfrm>
            <a:off x="228600" y="1078992"/>
            <a:ext cx="8686800" cy="1188720"/>
          </a:xfrm>
          <a:prstGeom prst="roundRect">
            <a:avLst>
              <a:gd name="adj" fmla="val 6154"/>
            </a:avLst>
          </a:prstGeom>
          <a:solidFill>
            <a:srgbClr val="E8F0FA"/>
          </a:solidFill>
          <a:ln/>
          <a:effectLst>
            <a:outerShdw sx="100000" sy="100000" kx="0" ky="0" algn="bl" rotWithShape="0" blurRad="101600" dist="38100" dir="2700000">
              <a:srgbClr val="000000">
                <a:alpha val="13000"/>
              </a:srgbClr>
            </a:outerShdw>
          </a:effectLst>
        </p:spPr>
      </p:sp>
      <p:sp>
        <p:nvSpPr>
          <p:cNvPr id="6" name="Shape 4"/>
          <p:cNvSpPr/>
          <p:nvPr/>
        </p:nvSpPr>
        <p:spPr>
          <a:xfrm>
            <a:off x="228600" y="1078992"/>
            <a:ext cx="201168" cy="1188720"/>
          </a:xfrm>
          <a:prstGeom prst="roundRect">
            <a:avLst>
              <a:gd name="adj" fmla="val 18182"/>
            </a:avLst>
          </a:prstGeom>
          <a:solidFill>
            <a:srgbClr val="1B4F8A"/>
          </a:solidFill>
          <a:ln/>
        </p:spPr>
      </p:sp>
      <p:sp>
        <p:nvSpPr>
          <p:cNvPr id="7" name="Text 5"/>
          <p:cNvSpPr/>
          <p:nvPr/>
        </p:nvSpPr>
        <p:spPr>
          <a:xfrm>
            <a:off x="548640" y="1133856"/>
            <a:ext cx="5029200" cy="320040"/>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Model A — HOG + Linear SVM</a:t>
            </a:r>
            <a:endParaRPr lang="en-US" sz="1300" dirty="0"/>
          </a:p>
        </p:txBody>
      </p:sp>
      <p:sp>
        <p:nvSpPr>
          <p:cNvPr id="8" name="Text 6"/>
          <p:cNvSpPr/>
          <p:nvPr/>
        </p:nvSpPr>
        <p:spPr>
          <a:xfrm>
            <a:off x="548640" y="1444752"/>
            <a:ext cx="54864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LinearSVC: C=0.05, class_weight='balanced'  ·  max_iter=5,000, CalibratedClassifierCV (cv=2)  ·  Input: 1,764-dim HOG features  ·  Training time: 35.8 minutes</a:t>
            </a:r>
            <a:endParaRPr lang="en-US" sz="950" dirty="0"/>
          </a:p>
        </p:txBody>
      </p:sp>
      <p:sp>
        <p:nvSpPr>
          <p:cNvPr id="9" name="Text 7"/>
          <p:cNvSpPr/>
          <p:nvPr/>
        </p:nvSpPr>
        <p:spPr>
          <a:xfrm>
            <a:off x="548640" y="1700784"/>
            <a:ext cx="548640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Strong regularised linear classifier on balanced oversampled HOG features. Calibration needed for Top-2 accuracy.</a:t>
            </a:r>
            <a:endParaRPr lang="en-US" sz="1000" dirty="0"/>
          </a:p>
        </p:txBody>
      </p:sp>
      <p:sp>
        <p:nvSpPr>
          <p:cNvPr id="10" name="Shape 8"/>
          <p:cNvSpPr/>
          <p:nvPr/>
        </p:nvSpPr>
        <p:spPr>
          <a:xfrm>
            <a:off x="6217920" y="1261872"/>
            <a:ext cx="2560320" cy="804672"/>
          </a:xfrm>
          <a:prstGeom prst="roundRect">
            <a:avLst>
              <a:gd name="adj" fmla="val 9091"/>
            </a:avLst>
          </a:prstGeom>
          <a:solidFill>
            <a:srgbClr val="EEF4FF"/>
          </a:solidFill>
          <a:ln/>
          <a:effectLst>
            <a:outerShdw sx="100000" sy="100000" kx="0" ky="0" algn="bl" rotWithShape="0" blurRad="101600" dist="38100" dir="2700000">
              <a:srgbClr val="000000">
                <a:alpha val="13000"/>
              </a:srgbClr>
            </a:outerShdw>
          </a:effectLst>
        </p:spPr>
      </p:sp>
      <p:sp>
        <p:nvSpPr>
          <p:cNvPr id="11" name="Text 9"/>
          <p:cNvSpPr/>
          <p:nvPr/>
        </p:nvSpPr>
        <p:spPr>
          <a:xfrm>
            <a:off x="6217920" y="1261872"/>
            <a:ext cx="2560320" cy="804672"/>
          </a:xfrm>
          <a:prstGeom prst="rect">
            <a:avLst/>
          </a:prstGeom>
          <a:noFill/>
          <a:ln/>
        </p:spPr>
        <p:txBody>
          <a:bodyPr wrap="square" lIns="0" tIns="0" rIns="0" bIns="0" rtlCol="0" anchor="ctr"/>
          <a:lstStyle/>
          <a:p>
            <a:pPr algn="ctr" indent="0" marL="0">
              <a:buNone/>
            </a:pPr>
            <a:r>
              <a:rPr lang="en-US" sz="1100" b="1" dirty="0">
                <a:solidFill>
                  <a:srgbClr val="1B4F8A"/>
                </a:solidFill>
                <a:latin typeface="Cambria" pitchFamily="34" charset="0"/>
                <a:ea typeface="Cambria" pitchFamily="34" charset="-122"/>
                <a:cs typeface="Cambria" pitchFamily="34" charset="-120"/>
              </a:rPr>
              <a:t>Accuracy: 0.812 | Macro-F1: 0.388</a:t>
            </a:r>
            <a:endParaRPr lang="en-US" sz="1100" dirty="0"/>
          </a:p>
        </p:txBody>
      </p:sp>
      <p:sp>
        <p:nvSpPr>
          <p:cNvPr id="12" name="Shape 10"/>
          <p:cNvSpPr/>
          <p:nvPr/>
        </p:nvSpPr>
        <p:spPr>
          <a:xfrm>
            <a:off x="228600" y="2395728"/>
            <a:ext cx="8686800" cy="1188720"/>
          </a:xfrm>
          <a:prstGeom prst="roundRect">
            <a:avLst>
              <a:gd name="adj" fmla="val 6154"/>
            </a:avLst>
          </a:prstGeom>
          <a:solidFill>
            <a:srgbClr val="E8F0FA"/>
          </a:solidFill>
          <a:ln/>
          <a:effectLst>
            <a:outerShdw sx="100000" sy="100000" kx="0" ky="0" algn="bl" rotWithShape="0" blurRad="101600" dist="38100" dir="2700000">
              <a:srgbClr val="000000">
                <a:alpha val="13000"/>
              </a:srgbClr>
            </a:outerShdw>
          </a:effectLst>
        </p:spPr>
      </p:sp>
      <p:sp>
        <p:nvSpPr>
          <p:cNvPr id="13" name="Shape 11"/>
          <p:cNvSpPr/>
          <p:nvPr/>
        </p:nvSpPr>
        <p:spPr>
          <a:xfrm>
            <a:off x="228600" y="2395728"/>
            <a:ext cx="201168" cy="1188720"/>
          </a:xfrm>
          <a:prstGeom prst="roundRect">
            <a:avLst>
              <a:gd name="adj" fmla="val 18182"/>
            </a:avLst>
          </a:prstGeom>
          <a:solidFill>
            <a:srgbClr val="0EA5E9"/>
          </a:solidFill>
          <a:ln/>
        </p:spPr>
      </p:sp>
      <p:sp>
        <p:nvSpPr>
          <p:cNvPr id="14" name="Text 12"/>
          <p:cNvSpPr/>
          <p:nvPr/>
        </p:nvSpPr>
        <p:spPr>
          <a:xfrm>
            <a:off x="548640" y="2450592"/>
            <a:ext cx="5029200" cy="320040"/>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Model B — HOG + Random Forest</a:t>
            </a:r>
            <a:endParaRPr lang="en-US" sz="1300" dirty="0"/>
          </a:p>
        </p:txBody>
      </p:sp>
      <p:sp>
        <p:nvSpPr>
          <p:cNvPr id="15" name="Text 13"/>
          <p:cNvSpPr/>
          <p:nvPr/>
        </p:nvSpPr>
        <p:spPr>
          <a:xfrm>
            <a:off x="548640" y="2761488"/>
            <a:ext cx="54864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200 trees, max_depth=20, max_features='sqrt'  ·  class_weight='balanced_subsample'  ·  Input: 1,764-dim HOG features  ·  Training time: 1.8 minutes (20× faster than SVM)</a:t>
            </a:r>
            <a:endParaRPr lang="en-US" sz="950" dirty="0"/>
          </a:p>
        </p:txBody>
      </p:sp>
      <p:sp>
        <p:nvSpPr>
          <p:cNvPr id="16" name="Text 14"/>
          <p:cNvSpPr/>
          <p:nvPr/>
        </p:nvSpPr>
        <p:spPr>
          <a:xfrm>
            <a:off x="548640" y="3017520"/>
            <a:ext cx="548640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Ensemble of decorrelated decision trees. Feature importances reveal only 5% of HOG dims carry discriminative weight.</a:t>
            </a:r>
            <a:endParaRPr lang="en-US" sz="1000" dirty="0"/>
          </a:p>
        </p:txBody>
      </p:sp>
      <p:sp>
        <p:nvSpPr>
          <p:cNvPr id="17" name="Shape 15"/>
          <p:cNvSpPr/>
          <p:nvPr/>
        </p:nvSpPr>
        <p:spPr>
          <a:xfrm>
            <a:off x="6217920" y="2578608"/>
            <a:ext cx="2560320" cy="804672"/>
          </a:xfrm>
          <a:prstGeom prst="roundRect">
            <a:avLst>
              <a:gd name="adj" fmla="val 9091"/>
            </a:avLst>
          </a:prstGeom>
          <a:solidFill>
            <a:srgbClr val="EEF4FF"/>
          </a:solidFill>
          <a:ln/>
          <a:effectLst>
            <a:outerShdw sx="100000" sy="100000" kx="0" ky="0" algn="bl" rotWithShape="0" blurRad="101600" dist="38100" dir="2700000">
              <a:srgbClr val="000000">
                <a:alpha val="13000"/>
              </a:srgbClr>
            </a:outerShdw>
          </a:effectLst>
        </p:spPr>
      </p:sp>
      <p:sp>
        <p:nvSpPr>
          <p:cNvPr id="18" name="Text 16"/>
          <p:cNvSpPr/>
          <p:nvPr/>
        </p:nvSpPr>
        <p:spPr>
          <a:xfrm>
            <a:off x="6217920" y="2578608"/>
            <a:ext cx="2560320" cy="804672"/>
          </a:xfrm>
          <a:prstGeom prst="rect">
            <a:avLst/>
          </a:prstGeom>
          <a:noFill/>
          <a:ln/>
        </p:spPr>
        <p:txBody>
          <a:bodyPr wrap="square" lIns="0" tIns="0" rIns="0" bIns="0" rtlCol="0" anchor="ctr"/>
          <a:lstStyle/>
          <a:p>
            <a:pPr algn="ctr" indent="0" marL="0">
              <a:buNone/>
            </a:pPr>
            <a:r>
              <a:rPr lang="en-US" sz="1100" b="1" dirty="0">
                <a:solidFill>
                  <a:srgbClr val="1B4F8A"/>
                </a:solidFill>
                <a:latin typeface="Cambria" pitchFamily="34" charset="0"/>
                <a:ea typeface="Cambria" pitchFamily="34" charset="-122"/>
                <a:cs typeface="Cambria" pitchFamily="34" charset="-120"/>
              </a:rPr>
              <a:t>Accuracy: 0.829 | Macro-F1: 0.392</a:t>
            </a:r>
            <a:endParaRPr lang="en-US" sz="1100" dirty="0"/>
          </a:p>
        </p:txBody>
      </p:sp>
      <p:sp>
        <p:nvSpPr>
          <p:cNvPr id="19" name="Shape 17"/>
          <p:cNvSpPr/>
          <p:nvPr/>
        </p:nvSpPr>
        <p:spPr>
          <a:xfrm>
            <a:off x="228600" y="3712464"/>
            <a:ext cx="8686800" cy="1188720"/>
          </a:xfrm>
          <a:prstGeom prst="roundRect">
            <a:avLst>
              <a:gd name="adj" fmla="val 6154"/>
            </a:avLst>
          </a:prstGeom>
          <a:solidFill>
            <a:srgbClr val="E8F0FA"/>
          </a:solidFill>
          <a:ln/>
          <a:effectLst>
            <a:outerShdw sx="100000" sy="100000" kx="0" ky="0" algn="bl" rotWithShape="0" blurRad="101600" dist="38100" dir="2700000">
              <a:srgbClr val="000000">
                <a:alpha val="13000"/>
              </a:srgbClr>
            </a:outerShdw>
          </a:effectLst>
        </p:spPr>
      </p:sp>
      <p:sp>
        <p:nvSpPr>
          <p:cNvPr id="20" name="Shape 18"/>
          <p:cNvSpPr/>
          <p:nvPr/>
        </p:nvSpPr>
        <p:spPr>
          <a:xfrm>
            <a:off x="228600" y="3712464"/>
            <a:ext cx="201168" cy="1188720"/>
          </a:xfrm>
          <a:prstGeom prst="roundRect">
            <a:avLst>
              <a:gd name="adj" fmla="val 18182"/>
            </a:avLst>
          </a:prstGeom>
          <a:solidFill>
            <a:srgbClr val="22C55E"/>
          </a:solidFill>
          <a:ln/>
        </p:spPr>
      </p:sp>
      <p:sp>
        <p:nvSpPr>
          <p:cNvPr id="21" name="Text 19"/>
          <p:cNvSpPr/>
          <p:nvPr/>
        </p:nvSpPr>
        <p:spPr>
          <a:xfrm>
            <a:off x="548640" y="3767328"/>
            <a:ext cx="5029200" cy="320040"/>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Model C — ResNet18 + Focal Loss</a:t>
            </a:r>
            <a:endParaRPr lang="en-US" sz="1300" dirty="0"/>
          </a:p>
        </p:txBody>
      </p:sp>
      <p:sp>
        <p:nvSpPr>
          <p:cNvPr id="22" name="Text 20"/>
          <p:cNvSpPr/>
          <p:nvPr/>
        </p:nvSpPr>
        <p:spPr>
          <a:xfrm>
            <a:off x="548640" y="4078224"/>
            <a:ext cx="54864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ImageNet-1K pretrained, two-phase fine-tuning  ·  Phase 1 (4 ep, frozen): lr=10⁻³ — head only  ·  Phase 2 (8 ep, layer4+head): lr=4×10⁻⁵, cosine anneal  ·  Focal Loss γ=2.0, inverse-freq class weights</a:t>
            </a:r>
            <a:endParaRPr lang="en-US" sz="950" dirty="0"/>
          </a:p>
        </p:txBody>
      </p:sp>
      <p:sp>
        <p:nvSpPr>
          <p:cNvPr id="23" name="Text 21"/>
          <p:cNvSpPr/>
          <p:nvPr/>
        </p:nvSpPr>
        <p:spPr>
          <a:xfrm>
            <a:off x="548640" y="4334256"/>
            <a:ext cx="548640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Transfer learning from ImageNet. Focal Loss downweights easy majority-class examples. Weighted Random Sampling ensures balanced batches.</a:t>
            </a:r>
            <a:endParaRPr lang="en-US" sz="1000" dirty="0"/>
          </a:p>
        </p:txBody>
      </p:sp>
      <p:sp>
        <p:nvSpPr>
          <p:cNvPr id="24" name="Shape 22"/>
          <p:cNvSpPr/>
          <p:nvPr/>
        </p:nvSpPr>
        <p:spPr>
          <a:xfrm>
            <a:off x="6217920" y="3895344"/>
            <a:ext cx="2560320" cy="804672"/>
          </a:xfrm>
          <a:prstGeom prst="roundRect">
            <a:avLst>
              <a:gd name="adj" fmla="val 9091"/>
            </a:avLst>
          </a:prstGeom>
          <a:solidFill>
            <a:srgbClr val="DCFCE7"/>
          </a:solidFill>
          <a:ln/>
          <a:effectLst>
            <a:outerShdw sx="100000" sy="100000" kx="0" ky="0" algn="bl" rotWithShape="0" blurRad="101600" dist="38100" dir="2700000">
              <a:srgbClr val="000000">
                <a:alpha val="13000"/>
              </a:srgbClr>
            </a:outerShdw>
          </a:effectLst>
        </p:spPr>
      </p:sp>
      <p:sp>
        <p:nvSpPr>
          <p:cNvPr id="25" name="Text 23"/>
          <p:cNvSpPr/>
          <p:nvPr/>
        </p:nvSpPr>
        <p:spPr>
          <a:xfrm>
            <a:off x="6217920" y="3895344"/>
            <a:ext cx="2560320" cy="804672"/>
          </a:xfrm>
          <a:prstGeom prst="rect">
            <a:avLst/>
          </a:prstGeom>
          <a:noFill/>
          <a:ln/>
        </p:spPr>
        <p:txBody>
          <a:bodyPr wrap="square" lIns="0" tIns="0" rIns="0" bIns="0" rtlCol="0" anchor="ctr"/>
          <a:lstStyle/>
          <a:p>
            <a:pPr algn="ctr" indent="0" marL="0">
              <a:buNone/>
            </a:pPr>
            <a:r>
              <a:rPr lang="en-US" sz="1100" b="1" dirty="0">
                <a:solidFill>
                  <a:srgbClr val="166534"/>
                </a:solidFill>
                <a:latin typeface="Cambria" pitchFamily="34" charset="0"/>
                <a:ea typeface="Cambria" pitchFamily="34" charset="-122"/>
                <a:cs typeface="Cambria" pitchFamily="34" charset="-120"/>
              </a:rPr>
              <a:t>Accuracy: 0.799 | Macro-F1: 0.497 ⭐ BEST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Model Comparison — The Key Finding</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Accuracy vs Macro-F1 inversion explains everything</a:t>
            </a:r>
            <a:endParaRPr lang="en-US" sz="1100" dirty="0"/>
          </a:p>
        </p:txBody>
      </p:sp>
      <p:graphicFrame>
        <p:nvGraphicFramePr>
          <p:cNvPr id="5" name="Chart 0" descr=""/>
          <p:cNvGraphicFramePr/>
          <p:nvPr/>
        </p:nvGraphicFramePr>
        <p:xfrm>
          <a:off x="228600" y="1078992"/>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0" y="1078992"/>
            <a:ext cx="324612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7" name="Text 4"/>
          <p:cNvSpPr/>
          <p:nvPr/>
        </p:nvSpPr>
        <p:spPr>
          <a:xfrm>
            <a:off x="5779008" y="1133856"/>
            <a:ext cx="3017520" cy="274320"/>
          </a:xfrm>
          <a:prstGeom prst="rect">
            <a:avLst/>
          </a:prstGeom>
          <a:noFill/>
          <a:ln/>
        </p:spPr>
        <p:txBody>
          <a:bodyPr wrap="square" lIns="0" tIns="0" rIns="0" bIns="0" rtlCol="0" anchor="ctr"/>
          <a:lstStyle/>
          <a:p>
            <a:pPr indent="0" marL="0">
              <a:buNone/>
            </a:pPr>
            <a:r>
              <a:rPr lang="en-US" sz="1100" b="1" dirty="0">
                <a:solidFill>
                  <a:srgbClr val="EF4444"/>
                </a:solidFill>
                <a:latin typeface="Cambria" pitchFamily="34" charset="0"/>
                <a:ea typeface="Cambria" pitchFamily="34" charset="-122"/>
                <a:cs typeface="Cambria" pitchFamily="34" charset="-120"/>
              </a:rPr>
              <a:t>❌ Accuracy is Misleading</a:t>
            </a:r>
            <a:endParaRPr lang="en-US" sz="1100" dirty="0"/>
          </a:p>
        </p:txBody>
      </p:sp>
      <p:sp>
        <p:nvSpPr>
          <p:cNvPr id="8" name="Text 5"/>
          <p:cNvSpPr/>
          <p:nvPr/>
        </p:nvSpPr>
        <p:spPr>
          <a:xfrm>
            <a:off x="5779008" y="1408176"/>
            <a:ext cx="301752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HOG+RF leads on accuracy (0.829) by exploiting majority-class dominance — car+pedestrian = 84.9% of test samples.</a:t>
            </a:r>
            <a:endParaRPr lang="en-US" sz="1000" dirty="0"/>
          </a:p>
        </p:txBody>
      </p:sp>
      <p:sp>
        <p:nvSpPr>
          <p:cNvPr id="9" name="Shape 6"/>
          <p:cNvSpPr/>
          <p:nvPr/>
        </p:nvSpPr>
        <p:spPr>
          <a:xfrm>
            <a:off x="5669280" y="2066544"/>
            <a:ext cx="324612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10" name="Text 7"/>
          <p:cNvSpPr/>
          <p:nvPr/>
        </p:nvSpPr>
        <p:spPr>
          <a:xfrm>
            <a:off x="5779008" y="2121408"/>
            <a:ext cx="3017520" cy="274320"/>
          </a:xfrm>
          <a:prstGeom prst="rect">
            <a:avLst/>
          </a:prstGeom>
          <a:noFill/>
          <a:ln/>
        </p:spPr>
        <p:txBody>
          <a:bodyPr wrap="square" lIns="0" tIns="0" rIns="0" bIns="0" rtlCol="0" anchor="ctr"/>
          <a:lstStyle/>
          <a:p>
            <a:pPr indent="0" marL="0">
              <a:buNone/>
            </a:pPr>
            <a:r>
              <a:rPr lang="en-US" sz="1100" b="1" dirty="0">
                <a:solidFill>
                  <a:srgbClr val="22C55E"/>
                </a:solidFill>
                <a:latin typeface="Cambria" pitchFamily="34" charset="0"/>
                <a:ea typeface="Cambria" pitchFamily="34" charset="-122"/>
                <a:cs typeface="Cambria" pitchFamily="34" charset="-120"/>
              </a:rPr>
              <a:t>✅ Macro-F1 Tells the Truth</a:t>
            </a:r>
            <a:endParaRPr lang="en-US" sz="1100" dirty="0"/>
          </a:p>
        </p:txBody>
      </p:sp>
      <p:sp>
        <p:nvSpPr>
          <p:cNvPr id="11" name="Text 8"/>
          <p:cNvSpPr/>
          <p:nvPr/>
        </p:nvSpPr>
        <p:spPr>
          <a:xfrm>
            <a:off x="5779008" y="2395728"/>
            <a:ext cx="301752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ResNet18 leads on macro-F1 (0.497) — penalises each class equally regardless of size. The right metric for imbalanced data.</a:t>
            </a:r>
            <a:endParaRPr lang="en-US" sz="1000" dirty="0"/>
          </a:p>
        </p:txBody>
      </p:sp>
      <p:sp>
        <p:nvSpPr>
          <p:cNvPr id="12" name="Shape 9"/>
          <p:cNvSpPr/>
          <p:nvPr/>
        </p:nvSpPr>
        <p:spPr>
          <a:xfrm>
            <a:off x="5669280" y="3054096"/>
            <a:ext cx="324612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13" name="Text 10"/>
          <p:cNvSpPr/>
          <p:nvPr/>
        </p:nvSpPr>
        <p:spPr>
          <a:xfrm>
            <a:off x="5779008" y="3108960"/>
            <a:ext cx="3017520" cy="274320"/>
          </a:xfrm>
          <a:prstGeom prst="rect">
            <a:avLst/>
          </a:prstGeom>
          <a:noFill/>
          <a:ln/>
        </p:spPr>
        <p:txBody>
          <a:bodyPr wrap="square" lIns="0" tIns="0" rIns="0" bIns="0" rtlCol="0" anchor="ctr"/>
          <a:lstStyle/>
          <a:p>
            <a:pPr indent="0" marL="0">
              <a:buNone/>
            </a:pPr>
            <a:r>
              <a:rPr lang="en-US" sz="1100" b="1" dirty="0">
                <a:solidFill>
                  <a:srgbClr val="1B4F8A"/>
                </a:solidFill>
                <a:latin typeface="Cambria" pitchFamily="34" charset="0"/>
                <a:ea typeface="Cambria" pitchFamily="34" charset="-122"/>
                <a:cs typeface="Cambria" pitchFamily="34" charset="-120"/>
              </a:rPr>
              <a:t>🔝 Top-2 = 96.9%</a:t>
            </a:r>
            <a:endParaRPr lang="en-US" sz="1100" dirty="0"/>
          </a:p>
        </p:txBody>
      </p:sp>
      <p:sp>
        <p:nvSpPr>
          <p:cNvPr id="14" name="Text 11"/>
          <p:cNvSpPr/>
          <p:nvPr/>
        </p:nvSpPr>
        <p:spPr>
          <a:xfrm>
            <a:off x="5779008" y="3383280"/>
            <a:ext cx="301752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ResNet18 correct class appears in top-2 predictions for 96.9% of samples — strong soft discriminability even when top-1 fails.</a:t>
            </a:r>
            <a:endParaRPr lang="en-US" sz="1000" dirty="0"/>
          </a:p>
        </p:txBody>
      </p:sp>
      <p:sp>
        <p:nvSpPr>
          <p:cNvPr id="15" name="Shape 12"/>
          <p:cNvSpPr/>
          <p:nvPr/>
        </p:nvSpPr>
        <p:spPr>
          <a:xfrm>
            <a:off x="5669280" y="4041648"/>
            <a:ext cx="324612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16" name="Text 13"/>
          <p:cNvSpPr/>
          <p:nvPr/>
        </p:nvSpPr>
        <p:spPr>
          <a:xfrm>
            <a:off x="5779008" y="4096512"/>
            <a:ext cx="3017520" cy="274320"/>
          </a:xfrm>
          <a:prstGeom prst="rect">
            <a:avLst/>
          </a:prstGeom>
          <a:noFill/>
          <a:ln/>
        </p:spPr>
        <p:txBody>
          <a:bodyPr wrap="square" lIns="0" tIns="0" rIns="0" bIns="0" rtlCol="0" anchor="ctr"/>
          <a:lstStyle/>
          <a:p>
            <a:pPr indent="0" marL="0">
              <a:buNone/>
            </a:pPr>
            <a:r>
              <a:rPr lang="en-US" sz="1100" b="1" dirty="0">
                <a:solidFill>
                  <a:srgbClr val="0EA5E9"/>
                </a:solidFill>
                <a:latin typeface="Cambria" pitchFamily="34" charset="0"/>
                <a:ea typeface="Cambria" pitchFamily="34" charset="-122"/>
                <a:cs typeface="Cambria" pitchFamily="34" charset="-120"/>
              </a:rPr>
              <a:t>⚖️ Trade-off Justified</a:t>
            </a:r>
            <a:endParaRPr lang="en-US" sz="1100" dirty="0"/>
          </a:p>
        </p:txBody>
      </p:sp>
      <p:sp>
        <p:nvSpPr>
          <p:cNvPr id="17" name="Text 14"/>
          <p:cNvSpPr/>
          <p:nvPr/>
        </p:nvSpPr>
        <p:spPr>
          <a:xfrm>
            <a:off x="5779008" y="4370832"/>
            <a:ext cx="301752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ResNet18 sacrifices 3–4pp accuracy to gain +10pp macro-F1. Operationally correct: missing a cyclist is worse than a wrong car label.</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28600" y="4645152"/>
          <a:ext cx="5303520" cy="384048"/>
        </p:xfrm>
        <a:graphic>
          <a:graphicData uri="http://schemas.openxmlformats.org/drawingml/2006/table">
            <a:tbl>
              <a:tblPr/>
              <a:tblGrid>
                <a:gridCol w="1645920"/>
                <a:gridCol w="1188720"/>
                <a:gridCol w="1188720"/>
                <a:gridCol w="1280160"/>
              </a:tblGrid>
              <a:tr h="347472">
                <a:tc>
                  <a:txBody>
                    <a:bodyPr/>
                    <a:lstStyle/>
                    <a:p>
                      <a:pPr algn="ctr" indent="0" marL="0">
                        <a:buNone/>
                      </a:pPr>
                      <a:r>
                        <a:rPr lang="en-US" sz="1000" b="1" dirty="0">
                          <a:solidFill>
                            <a:srgbClr val="FFFFFF"/>
                          </a:solidFill>
                        </a:rPr>
                        <a:t>Model</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c>
                  <a:txBody>
                    <a:bodyPr/>
                    <a:lstStyle/>
                    <a:p>
                      <a:pPr algn="ctr" indent="0" marL="0">
                        <a:buNone/>
                      </a:pPr>
                      <a:r>
                        <a:rPr lang="en-US" sz="1000" b="1" dirty="0">
                          <a:solidFill>
                            <a:srgbClr val="FFFFFF"/>
                          </a:solidFill>
                        </a:rPr>
                        <a:t>Accuracy</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c>
                  <a:txBody>
                    <a:bodyPr/>
                    <a:lstStyle/>
                    <a:p>
                      <a:pPr algn="ctr" indent="0" marL="0">
                        <a:buNone/>
                      </a:pPr>
                      <a:r>
                        <a:rPr lang="en-US" sz="1000" b="1" dirty="0">
                          <a:solidFill>
                            <a:srgbClr val="FFFFFF"/>
                          </a:solidFill>
                        </a:rPr>
                        <a:t>Macro-F1</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c>
                  <a:txBody>
                    <a:bodyPr/>
                    <a:lstStyle/>
                    <a:p>
                      <a:pPr algn="ctr" indent="0" marL="0">
                        <a:buNone/>
                      </a:pPr>
                      <a:r>
                        <a:rPr lang="en-US" sz="1000" b="1" dirty="0">
                          <a:solidFill>
                            <a:srgbClr val="FFFFFF"/>
                          </a:solidFill>
                        </a:rPr>
                        <a:t>Train Time</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solidFill>
                      <a:srgbClr val="1B4F8A"/>
                    </a:solidFill>
                  </a:tcPr>
                </a:tc>
              </a:tr>
              <a:tr h="347472">
                <a:tc>
                  <a:txBody>
                    <a:bodyPr/>
                    <a:lstStyle/>
                    <a:p>
                      <a:pPr algn="ctr" indent="0" marL="0">
                        <a:buNone/>
                      </a:pPr>
                      <a:r>
                        <a:rPr lang="en-US" sz="1000" dirty="0">
                          <a:solidFill>
                            <a:srgbClr val="1E293B"/>
                          </a:solidFill>
                        </a:rPr>
                        <a:t>HOG+SVM</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0.812</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0.388</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35.8 min</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000" dirty="0">
                          <a:solidFill>
                            <a:srgbClr val="1E293B"/>
                          </a:solidFill>
                        </a:rPr>
                        <a:t>HOG+RF</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0.829</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0.392</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1.8 min</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r h="347472">
                <a:tc>
                  <a:txBody>
                    <a:bodyPr/>
                    <a:lstStyle/>
                    <a:p>
                      <a:pPr algn="ctr" indent="0" marL="0">
                        <a:buNone/>
                      </a:pPr>
                      <a:r>
                        <a:rPr lang="en-US" sz="1000" dirty="0">
                          <a:solidFill>
                            <a:srgbClr val="1E293B"/>
                          </a:solidFill>
                        </a:rPr>
                        <a:t>ResNet18 ⭐</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0.799</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b="1" dirty="0">
                          <a:solidFill>
                            <a:srgbClr val="22C55E"/>
                          </a:solidFill>
                        </a:rPr>
                        <a:t>0.497</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c>
                  <a:txBody>
                    <a:bodyPr/>
                    <a:lstStyle/>
                    <a:p>
                      <a:pPr algn="ctr" indent="0" marL="0">
                        <a:buNone/>
                      </a:pPr>
                      <a:r>
                        <a:rPr lang="en-US" sz="1000" dirty="0">
                          <a:solidFill>
                            <a:srgbClr val="1E293B"/>
                          </a:solidFill>
                        </a:rPr>
                        <a:t>~5 min</a:t>
                      </a:r>
                      <a:endParaRPr lang="en-US" sz="1000" dirty="0"/>
                    </a:p>
                  </a:txBody>
                  <a:tcPr marL="91440" marR="91440" marT="45720" marB="45720" anchor="ctr">
                    <a:lnL w="6350" cap="flat" cmpd="sng" algn="ctr">
                      <a:solidFill>
                        <a:srgbClr val="C7D5E8"/>
                      </a:solidFill>
                      <a:prstDash val="solid"/>
                      <a:round/>
                      <a:headEnd type="none" w="med" len="med"/>
                      <a:tailEnd type="none" w="med" len="med"/>
                    </a:lnL>
                    <a:lnR w="6350" cap="flat" cmpd="sng" algn="ctr">
                      <a:solidFill>
                        <a:srgbClr val="C7D5E8"/>
                      </a:solidFill>
                      <a:prstDash val="solid"/>
                      <a:round/>
                      <a:headEnd type="none" w="med" len="med"/>
                      <a:tailEnd type="none" w="med" len="med"/>
                    </a:lnR>
                    <a:lnT w="6350" cap="flat" cmpd="sng" algn="ctr">
                      <a:solidFill>
                        <a:srgbClr val="C7D5E8"/>
                      </a:solidFill>
                      <a:prstDash val="solid"/>
                      <a:round/>
                      <a:headEnd type="none" w="med" len="med"/>
                      <a:tailEnd type="none" w="med" len="med"/>
                    </a:lnT>
                    <a:lnB w="6350" cap="flat" cmpd="sng" algn="ctr">
                      <a:solidFill>
                        <a:srgbClr val="C7D5E8"/>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Best Performance &amp; Failure Modes — Per-Class F1</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Where each model succeeds and where it collapses</a:t>
            </a:r>
            <a:endParaRPr lang="en-US" sz="1100" dirty="0"/>
          </a:p>
        </p:txBody>
      </p:sp>
      <p:graphicFrame>
        <p:nvGraphicFramePr>
          <p:cNvPr id="5" name="Chart 0" descr=""/>
          <p:cNvGraphicFramePr/>
          <p:nvPr/>
        </p:nvGraphicFramePr>
        <p:xfrm>
          <a:off x="228600" y="105156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52160" y="1051560"/>
            <a:ext cx="306324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7" name="Text 4"/>
          <p:cNvSpPr/>
          <p:nvPr/>
        </p:nvSpPr>
        <p:spPr>
          <a:xfrm>
            <a:off x="5961888" y="1106424"/>
            <a:ext cx="2834640" cy="274320"/>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 Car — Best across all models</a:t>
            </a:r>
            <a:endParaRPr lang="en-US" sz="1050" dirty="0"/>
          </a:p>
        </p:txBody>
      </p:sp>
      <p:sp>
        <p:nvSpPr>
          <p:cNvPr id="8" name="Text 5"/>
          <p:cNvSpPr/>
          <p:nvPr/>
        </p:nvSpPr>
        <p:spPr>
          <a:xfrm>
            <a:off x="5961888" y="1380744"/>
            <a:ext cx="283464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F1: SVM=0.920, RF=0.963, CNN=0.906. Dominant training data + distinctive top-down rectangular silhouette = cleanest class.</a:t>
            </a:r>
            <a:endParaRPr lang="en-US" sz="1000" dirty="0"/>
          </a:p>
        </p:txBody>
      </p:sp>
      <p:sp>
        <p:nvSpPr>
          <p:cNvPr id="9" name="Shape 6"/>
          <p:cNvSpPr/>
          <p:nvPr/>
        </p:nvSpPr>
        <p:spPr>
          <a:xfrm>
            <a:off x="5852160" y="2039112"/>
            <a:ext cx="306324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10" name="Text 7"/>
          <p:cNvSpPr/>
          <p:nvPr/>
        </p:nvSpPr>
        <p:spPr>
          <a:xfrm>
            <a:off x="5961888" y="2093976"/>
            <a:ext cx="2834640" cy="274320"/>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 ResNet18 recovers minorities</a:t>
            </a:r>
            <a:endParaRPr lang="en-US" sz="1050" dirty="0"/>
          </a:p>
        </p:txBody>
      </p:sp>
      <p:sp>
        <p:nvSpPr>
          <p:cNvPr id="11" name="Text 8"/>
          <p:cNvSpPr/>
          <p:nvPr/>
        </p:nvSpPr>
        <p:spPr>
          <a:xfrm>
            <a:off x="5961888" y="2368296"/>
            <a:ext cx="283464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Motor: 0.719  |  Bicycle: 0.538  |  People: 0.463. Classical models score 0.000 on all three — deep learning is the only viable approach.</a:t>
            </a:r>
            <a:endParaRPr lang="en-US" sz="1000" dirty="0"/>
          </a:p>
        </p:txBody>
      </p:sp>
      <p:sp>
        <p:nvSpPr>
          <p:cNvPr id="12" name="Shape 9"/>
          <p:cNvSpPr/>
          <p:nvPr/>
        </p:nvSpPr>
        <p:spPr>
          <a:xfrm>
            <a:off x="5852160" y="3026664"/>
            <a:ext cx="306324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13" name="Text 10"/>
          <p:cNvSpPr/>
          <p:nvPr/>
        </p:nvSpPr>
        <p:spPr>
          <a:xfrm>
            <a:off x="5961888" y="3081528"/>
            <a:ext cx="2834640" cy="274320"/>
          </a:xfrm>
          <a:prstGeom prst="rect">
            <a:avLst/>
          </a:prstGeom>
          <a:noFill/>
          <a:ln/>
        </p:spPr>
        <p:txBody>
          <a:bodyPr wrap="square" lIns="0" tIns="0" rIns="0" bIns="0" rtlCol="0" anchor="ctr"/>
          <a:lstStyle/>
          <a:p>
            <a:pPr indent="0" marL="0">
              <a:buNone/>
            </a:pPr>
            <a:r>
              <a:rPr lang="en-US" sz="1050" b="1" dirty="0">
                <a:solidFill>
                  <a:srgbClr val="EF4444"/>
                </a:solidFill>
                <a:latin typeface="Cambria" pitchFamily="34" charset="0"/>
                <a:ea typeface="Cambria" pitchFamily="34" charset="-122"/>
                <a:cs typeface="Cambria" pitchFamily="34" charset="-120"/>
              </a:rPr>
              <a:t>❌ HOG models collapse on 5/7 classes</a:t>
            </a:r>
            <a:endParaRPr lang="en-US" sz="1050" dirty="0"/>
          </a:p>
        </p:txBody>
      </p:sp>
      <p:sp>
        <p:nvSpPr>
          <p:cNvPr id="14" name="Text 11"/>
          <p:cNvSpPr/>
          <p:nvPr/>
        </p:nvSpPr>
        <p:spPr>
          <a:xfrm>
            <a:off x="5961888" y="3355848"/>
            <a:ext cx="283464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SVM and RF achieve zero F1 on motor, people, bicycle — and bus. Oversampling alone cannot compensate for HOG's descriptor limitations at small scale.</a:t>
            </a:r>
            <a:endParaRPr lang="en-US" sz="1000" dirty="0"/>
          </a:p>
        </p:txBody>
      </p:sp>
      <p:sp>
        <p:nvSpPr>
          <p:cNvPr id="15" name="Shape 12"/>
          <p:cNvSpPr/>
          <p:nvPr/>
        </p:nvSpPr>
        <p:spPr>
          <a:xfrm>
            <a:off x="5852160" y="4014216"/>
            <a:ext cx="3063240" cy="859536"/>
          </a:xfrm>
          <a:prstGeom prst="roundRect">
            <a:avLst>
              <a:gd name="adj" fmla="val 8511"/>
            </a:avLst>
          </a:prstGeom>
          <a:solidFill>
            <a:srgbClr val="E8F0FA"/>
          </a:solidFill>
          <a:ln/>
          <a:effectLst>
            <a:outerShdw sx="100000" sy="100000" kx="0" ky="0" algn="bl" rotWithShape="0" blurRad="101600" dist="38100" dir="2700000">
              <a:srgbClr val="000000">
                <a:alpha val="13000"/>
              </a:srgbClr>
            </a:outerShdw>
          </a:effectLst>
        </p:spPr>
      </p:sp>
      <p:sp>
        <p:nvSpPr>
          <p:cNvPr id="16" name="Text 13"/>
          <p:cNvSpPr/>
          <p:nvPr/>
        </p:nvSpPr>
        <p:spPr>
          <a:xfrm>
            <a:off x="5961888" y="4069080"/>
            <a:ext cx="2834640" cy="274320"/>
          </a:xfrm>
          <a:prstGeom prst="rect">
            <a:avLst/>
          </a:prstGeom>
          <a:noFill/>
          <a:ln/>
        </p:spPr>
        <p:txBody>
          <a:bodyPr wrap="square" lIns="0" tIns="0" rIns="0" bIns="0" rtlCol="0" anchor="ctr"/>
          <a:lstStyle/>
          <a:p>
            <a:pPr indent="0" marL="0">
              <a:buNone/>
            </a:pPr>
            <a:r>
              <a:rPr lang="en-US" sz="1050" b="1" dirty="0">
                <a:solidFill>
                  <a:srgbClr val="F59E0B"/>
                </a:solidFill>
                <a:latin typeface="Cambria" pitchFamily="34" charset="0"/>
                <a:ea typeface="Cambria" pitchFamily="34" charset="-122"/>
                <a:cs typeface="Cambria" pitchFamily="34" charset="-120"/>
              </a:rPr>
              <a:t>⚠️ Bus: F1=0 is NOT model failure</a:t>
            </a:r>
            <a:endParaRPr lang="en-US" sz="1050" dirty="0"/>
          </a:p>
        </p:txBody>
      </p:sp>
      <p:sp>
        <p:nvSpPr>
          <p:cNvPr id="17" name="Text 14"/>
          <p:cNvSpPr/>
          <p:nvPr/>
        </p:nvSpPr>
        <p:spPr>
          <a:xfrm>
            <a:off x="5961888" y="4343400"/>
            <a:ext cx="2834640"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Only 3 tracks → 6 test samples. Statistical error &gt;20pp makes any F1 estimate meaningless. Van (n=1) similarly unreliable. Dataset limitation, not model limitation.</a:t>
            </a:r>
            <a:endParaRPr lang="en-US" sz="1000" dirty="0"/>
          </a:p>
        </p:txBody>
      </p:sp>
      <p:sp>
        <p:nvSpPr>
          <p:cNvPr id="18" name="Shape 15"/>
          <p:cNvSpPr/>
          <p:nvPr/>
        </p:nvSpPr>
        <p:spPr>
          <a:xfrm>
            <a:off x="228600" y="4498848"/>
            <a:ext cx="8686800" cy="457200"/>
          </a:xfrm>
          <a:prstGeom prst="roundRect">
            <a:avLst>
              <a:gd name="adj" fmla="val 14000"/>
            </a:avLst>
          </a:prstGeom>
          <a:solidFill>
            <a:srgbClr val="0D1B2A"/>
          </a:solidFill>
          <a:ln/>
        </p:spPr>
      </p:sp>
      <p:sp>
        <p:nvSpPr>
          <p:cNvPr id="19" name="Text 16"/>
          <p:cNvSpPr/>
          <p:nvPr/>
        </p:nvSpPr>
        <p:spPr>
          <a:xfrm>
            <a:off x="228600" y="4498848"/>
            <a:ext cx="8686800" cy="457200"/>
          </a:xfrm>
          <a:prstGeom prst="rect">
            <a:avLst/>
          </a:prstGeom>
          <a:noFill/>
          <a:ln/>
        </p:spPr>
        <p:txBody>
          <a:bodyPr wrap="square" lIns="0" tIns="0" rIns="0" bIns="0" rtlCol="0" anchor="ctr"/>
          <a:lstStyle/>
          <a:p>
            <a:pPr algn="ctr" indent="0" marL="0">
              <a:buNone/>
            </a:pPr>
            <a:r>
              <a:rPr lang="en-US" sz="1200" dirty="0">
                <a:solidFill>
                  <a:srgbClr val="0EA5E9"/>
                </a:solidFill>
                <a:latin typeface="Cambria" pitchFamily="34" charset="0"/>
                <a:ea typeface="Cambria" pitchFamily="34" charset="-122"/>
                <a:cs typeface="Cambria" pitchFamily="34" charset="-120"/>
              </a:rPr>
              <a:t>Key insight: macro-F1 difference (0.497 vs 0.392) = ResNet18 winning on the 5 classes where HOG models score zero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Overfitting &amp; Model Limitations</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Where ResNet18 excels vs where it struggles</a:t>
            </a:r>
            <a:endParaRPr lang="en-US" sz="1100" dirty="0"/>
          </a:p>
        </p:txBody>
      </p:sp>
      <p:sp>
        <p:nvSpPr>
          <p:cNvPr id="5" name="Shape 3"/>
          <p:cNvSpPr/>
          <p:nvPr/>
        </p:nvSpPr>
        <p:spPr>
          <a:xfrm>
            <a:off x="228600" y="1078992"/>
            <a:ext cx="5303520" cy="1783080"/>
          </a:xfrm>
          <a:prstGeom prst="roundRect">
            <a:avLst>
              <a:gd name="adj" fmla="val 4103"/>
            </a:avLst>
          </a:prstGeom>
          <a:solidFill>
            <a:srgbClr val="F0FDF4"/>
          </a:solidFill>
          <a:ln/>
          <a:effectLst>
            <a:outerShdw sx="100000" sy="100000" kx="0" ky="0" algn="bl" rotWithShape="0" blurRad="101600" dist="38100" dir="2700000">
              <a:srgbClr val="000000">
                <a:alpha val="13000"/>
              </a:srgbClr>
            </a:outerShdw>
          </a:effectLst>
        </p:spPr>
      </p:sp>
      <p:sp>
        <p:nvSpPr>
          <p:cNvPr id="6" name="Text 4"/>
          <p:cNvSpPr/>
          <p:nvPr/>
        </p:nvSpPr>
        <p:spPr>
          <a:xfrm>
            <a:off x="365760" y="1152144"/>
            <a:ext cx="5029200" cy="320040"/>
          </a:xfrm>
          <a:prstGeom prst="rect">
            <a:avLst/>
          </a:prstGeom>
          <a:noFill/>
          <a:ln/>
        </p:spPr>
        <p:txBody>
          <a:bodyPr wrap="square" lIns="0" tIns="0" rIns="0" bIns="0" rtlCol="0" anchor="ctr"/>
          <a:lstStyle/>
          <a:p>
            <a:pPr indent="0" marL="0">
              <a:buNone/>
            </a:pPr>
            <a:r>
              <a:rPr lang="en-US" sz="1200" b="1" dirty="0">
                <a:solidFill>
                  <a:srgbClr val="22C55E"/>
                </a:solidFill>
                <a:latin typeface="Cambria" pitchFamily="34" charset="0"/>
                <a:ea typeface="Cambria" pitchFamily="34" charset="-122"/>
                <a:cs typeface="Cambria" pitchFamily="34" charset="-120"/>
              </a:rPr>
              <a:t>✅ ResNet18 — Where it covers well</a:t>
            </a:r>
            <a:endParaRPr lang="en-US" sz="1200" dirty="0"/>
          </a:p>
        </p:txBody>
      </p:sp>
      <p:sp>
        <p:nvSpPr>
          <p:cNvPr id="7" name="Text 5"/>
          <p:cNvSpPr/>
          <p:nvPr/>
        </p:nvSpPr>
        <p:spPr>
          <a:xfrm>
            <a:off x="365760" y="1499616"/>
            <a:ext cx="5029200" cy="1298448"/>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Motor (F1=0.719): highest minority-class F1. Focal Loss training successfully learns the seat-wheel silhouette.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Bicycle (F1=0.538, Recall=0.970): detects almost every bicycle. High recall is operationally valuable in surveillance.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People (F1=0.463): partially distinguished from pedestrian through fine-tuned layer4 features.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Top-2 Accuracy=96.9%: correct class in top-2 predictions for nearly all test samples — strong latent representation.</a:t>
            </a:r>
            <a:endParaRPr lang="en-US" sz="1000" dirty="0"/>
          </a:p>
        </p:txBody>
      </p:sp>
      <p:sp>
        <p:nvSpPr>
          <p:cNvPr id="8" name="Shape 6"/>
          <p:cNvSpPr/>
          <p:nvPr/>
        </p:nvSpPr>
        <p:spPr>
          <a:xfrm>
            <a:off x="228600" y="3017520"/>
            <a:ext cx="5303520" cy="1783080"/>
          </a:xfrm>
          <a:prstGeom prst="roundRect">
            <a:avLst>
              <a:gd name="adj" fmla="val 4103"/>
            </a:avLst>
          </a:prstGeom>
          <a:solidFill>
            <a:srgbClr val="FFF1F2"/>
          </a:solidFill>
          <a:ln/>
          <a:effectLst>
            <a:outerShdw sx="100000" sy="100000" kx="0" ky="0" algn="bl" rotWithShape="0" blurRad="101600" dist="38100" dir="2700000">
              <a:srgbClr val="000000">
                <a:alpha val="13000"/>
              </a:srgbClr>
            </a:outerShdw>
          </a:effectLst>
        </p:spPr>
      </p:sp>
      <p:sp>
        <p:nvSpPr>
          <p:cNvPr id="9" name="Text 7"/>
          <p:cNvSpPr/>
          <p:nvPr/>
        </p:nvSpPr>
        <p:spPr>
          <a:xfrm>
            <a:off x="365760" y="3090672"/>
            <a:ext cx="5029200" cy="320040"/>
          </a:xfrm>
          <a:prstGeom prst="rect">
            <a:avLst/>
          </a:prstGeom>
          <a:noFill/>
          <a:ln/>
        </p:spPr>
        <p:txBody>
          <a:bodyPr wrap="square" lIns="0" tIns="0" rIns="0" bIns="0" rtlCol="0" anchor="ctr"/>
          <a:lstStyle/>
          <a:p>
            <a:pPr indent="0" marL="0">
              <a:buNone/>
            </a:pPr>
            <a:r>
              <a:rPr lang="en-US" sz="1200" b="1" dirty="0">
                <a:solidFill>
                  <a:srgbClr val="EF4444"/>
                </a:solidFill>
                <a:latin typeface="Cambria" pitchFamily="34" charset="0"/>
                <a:ea typeface="Cambria" pitchFamily="34" charset="-122"/>
                <a:cs typeface="Cambria" pitchFamily="34" charset="-120"/>
              </a:rPr>
              <a:t>❌ ResNet18 — Where it fails / struggles</a:t>
            </a:r>
            <a:endParaRPr lang="en-US" sz="1200" dirty="0"/>
          </a:p>
        </p:txBody>
      </p:sp>
      <p:sp>
        <p:nvSpPr>
          <p:cNvPr id="10" name="Text 8"/>
          <p:cNvSpPr/>
          <p:nvPr/>
        </p:nvSpPr>
        <p:spPr>
          <a:xfrm>
            <a:off x="365760" y="3438144"/>
            <a:ext cx="5029200" cy="1298448"/>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Bicycle Precision = 0.372 (low): too many false positives — motor and pedestrian misclassified as bicycle. Decision boundary not sharp enough.</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People Recall = low: pedestrian-people visual ambiguity persists even in deep learned feature space — both are small upright figures at UAV altitude.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Bus F1 = 0 (all models): 6 test samples is statistically insufficient — this is a data problem, not a model problem.</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Overfitting risk in Phase 2: if learning rate too high or patience too low, layer4 fine-tuning can overfit on small minority classes. Mitigated by lr=4×10⁻⁵ and patience=4.</a:t>
            </a:r>
            <a:endParaRPr lang="en-US" sz="1000" dirty="0"/>
          </a:p>
        </p:txBody>
      </p:sp>
      <p:sp>
        <p:nvSpPr>
          <p:cNvPr id="11" name="Shape 9"/>
          <p:cNvSpPr/>
          <p:nvPr/>
        </p:nvSpPr>
        <p:spPr>
          <a:xfrm>
            <a:off x="5669280" y="1078992"/>
            <a:ext cx="3246120" cy="3657600"/>
          </a:xfrm>
          <a:prstGeom prst="roundRect">
            <a:avLst>
              <a:gd name="adj" fmla="val 2254"/>
            </a:avLst>
          </a:prstGeom>
          <a:solidFill>
            <a:srgbClr val="E8F0FA"/>
          </a:solidFill>
          <a:ln/>
          <a:effectLst>
            <a:outerShdw sx="100000" sy="100000" kx="0" ky="0" algn="bl" rotWithShape="0" blurRad="101600" dist="38100" dir="2700000">
              <a:srgbClr val="000000">
                <a:alpha val="13000"/>
              </a:srgbClr>
            </a:outerShdw>
          </a:effectLst>
        </p:spPr>
      </p:sp>
      <p:sp>
        <p:nvSpPr>
          <p:cNvPr id="12" name="Text 10"/>
          <p:cNvSpPr/>
          <p:nvPr/>
        </p:nvSpPr>
        <p:spPr>
          <a:xfrm>
            <a:off x="5806440" y="1143000"/>
            <a:ext cx="3017520" cy="347472"/>
          </a:xfrm>
          <a:prstGeom prst="rect">
            <a:avLst/>
          </a:prstGeom>
          <a:noFill/>
          <a:ln/>
        </p:spPr>
        <p:txBody>
          <a:bodyPr wrap="square" lIns="0" tIns="0" rIns="0" bIns="0"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ResNet18 Training Dynamics</a:t>
            </a:r>
            <a:endParaRPr lang="en-US" sz="1200" dirty="0"/>
          </a:p>
        </p:txBody>
      </p:sp>
      <p:sp>
        <p:nvSpPr>
          <p:cNvPr id="13" name="Shape 11"/>
          <p:cNvSpPr/>
          <p:nvPr/>
        </p:nvSpPr>
        <p:spPr>
          <a:xfrm>
            <a:off x="5806440" y="1536192"/>
            <a:ext cx="2971800" cy="987552"/>
          </a:xfrm>
          <a:prstGeom prst="roundRect">
            <a:avLst>
              <a:gd name="adj" fmla="val 7407"/>
            </a:avLst>
          </a:prstGeom>
          <a:solidFill>
            <a:srgbClr val="EEF4FF"/>
          </a:solidFill>
          <a:ln/>
          <a:effectLst>
            <a:outerShdw sx="100000" sy="100000" kx="0" ky="0" algn="bl" rotWithShape="0" blurRad="101600" dist="38100" dir="2700000">
              <a:srgbClr val="000000">
                <a:alpha val="13000"/>
              </a:srgbClr>
            </a:outerShdw>
          </a:effectLst>
        </p:spPr>
      </p:sp>
      <p:sp>
        <p:nvSpPr>
          <p:cNvPr id="14" name="Text 12"/>
          <p:cNvSpPr/>
          <p:nvPr/>
        </p:nvSpPr>
        <p:spPr>
          <a:xfrm>
            <a:off x="5897880" y="1581912"/>
            <a:ext cx="2788920" cy="27432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Phase 1 (Ep 1–4)</a:t>
            </a:r>
            <a:endParaRPr lang="en-US" sz="1100" dirty="0"/>
          </a:p>
        </p:txBody>
      </p:sp>
      <p:sp>
        <p:nvSpPr>
          <p:cNvPr id="15" name="Text 13"/>
          <p:cNvSpPr/>
          <p:nvPr/>
        </p:nvSpPr>
        <p:spPr>
          <a:xfrm>
            <a:off x="5897880" y="1828800"/>
            <a:ext cx="2788920"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Backbone frozen</a:t>
            </a:r>
            <a:endParaRPr lang="en-US" sz="950" dirty="0"/>
          </a:p>
        </p:txBody>
      </p:sp>
      <p:sp>
        <p:nvSpPr>
          <p:cNvPr id="16" name="Text 14"/>
          <p:cNvSpPr/>
          <p:nvPr/>
        </p:nvSpPr>
        <p:spPr>
          <a:xfrm>
            <a:off x="5897880" y="2011680"/>
            <a:ext cx="2788920"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Accuracy: 0.100 → 0.401</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Macro-F1: 0.096 → 0.305</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Head learns from ImageNet features</a:t>
            </a:r>
            <a:endParaRPr lang="en-US" sz="950" dirty="0"/>
          </a:p>
        </p:txBody>
      </p:sp>
      <p:sp>
        <p:nvSpPr>
          <p:cNvPr id="17" name="Shape 15"/>
          <p:cNvSpPr/>
          <p:nvPr/>
        </p:nvSpPr>
        <p:spPr>
          <a:xfrm>
            <a:off x="5806440" y="2633472"/>
            <a:ext cx="2971800" cy="987552"/>
          </a:xfrm>
          <a:prstGeom prst="roundRect">
            <a:avLst>
              <a:gd name="adj" fmla="val 7407"/>
            </a:avLst>
          </a:prstGeom>
          <a:solidFill>
            <a:srgbClr val="FEF9C3"/>
          </a:solidFill>
          <a:ln/>
          <a:effectLst>
            <a:outerShdw sx="100000" sy="100000" kx="0" ky="0" algn="bl" rotWithShape="0" blurRad="101600" dist="38100" dir="2700000">
              <a:srgbClr val="000000">
                <a:alpha val="13000"/>
              </a:srgbClr>
            </a:outerShdw>
          </a:effectLst>
        </p:spPr>
      </p:sp>
      <p:sp>
        <p:nvSpPr>
          <p:cNvPr id="18" name="Text 16"/>
          <p:cNvSpPr/>
          <p:nvPr/>
        </p:nvSpPr>
        <p:spPr>
          <a:xfrm>
            <a:off x="5897880" y="2679192"/>
            <a:ext cx="2788920" cy="27432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Epoch 5 Step-Change</a:t>
            </a:r>
            <a:endParaRPr lang="en-US" sz="1100" dirty="0"/>
          </a:p>
        </p:txBody>
      </p:sp>
      <p:sp>
        <p:nvSpPr>
          <p:cNvPr id="19" name="Text 17"/>
          <p:cNvSpPr/>
          <p:nvPr/>
        </p:nvSpPr>
        <p:spPr>
          <a:xfrm>
            <a:off x="5897880" y="2926080"/>
            <a:ext cx="2788920"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layer4 unfrozen</a:t>
            </a:r>
            <a:endParaRPr lang="en-US" sz="950" dirty="0"/>
          </a:p>
        </p:txBody>
      </p:sp>
      <p:sp>
        <p:nvSpPr>
          <p:cNvPr id="20" name="Text 18"/>
          <p:cNvSpPr/>
          <p:nvPr/>
        </p:nvSpPr>
        <p:spPr>
          <a:xfrm>
            <a:off x="5897880" y="3108960"/>
            <a:ext cx="2788920"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Accuracy jumps to 0.533</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Macro-F1 jumps to 0.396</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Backbone fine-tuning adds discriminative power</a:t>
            </a:r>
            <a:endParaRPr lang="en-US" sz="950" dirty="0"/>
          </a:p>
        </p:txBody>
      </p:sp>
      <p:sp>
        <p:nvSpPr>
          <p:cNvPr id="21" name="Shape 19"/>
          <p:cNvSpPr/>
          <p:nvPr/>
        </p:nvSpPr>
        <p:spPr>
          <a:xfrm>
            <a:off x="5806440" y="3730752"/>
            <a:ext cx="2971800" cy="987552"/>
          </a:xfrm>
          <a:prstGeom prst="roundRect">
            <a:avLst>
              <a:gd name="adj" fmla="val 7407"/>
            </a:avLst>
          </a:prstGeom>
          <a:solidFill>
            <a:srgbClr val="DCFCE7"/>
          </a:solidFill>
          <a:ln/>
          <a:effectLst>
            <a:outerShdw sx="100000" sy="100000" kx="0" ky="0" algn="bl" rotWithShape="0" blurRad="101600" dist="38100" dir="2700000">
              <a:srgbClr val="000000">
                <a:alpha val="13000"/>
              </a:srgbClr>
            </a:outerShdw>
          </a:effectLst>
        </p:spPr>
      </p:sp>
      <p:sp>
        <p:nvSpPr>
          <p:cNvPr id="22" name="Text 20"/>
          <p:cNvSpPr/>
          <p:nvPr/>
        </p:nvSpPr>
        <p:spPr>
          <a:xfrm>
            <a:off x="5897880" y="3776472"/>
            <a:ext cx="2788920" cy="27432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Phase 2 (Ep 5–11)</a:t>
            </a:r>
            <a:endParaRPr lang="en-US" sz="1100" dirty="0"/>
          </a:p>
        </p:txBody>
      </p:sp>
      <p:sp>
        <p:nvSpPr>
          <p:cNvPr id="23" name="Text 21"/>
          <p:cNvSpPr/>
          <p:nvPr/>
        </p:nvSpPr>
        <p:spPr>
          <a:xfrm>
            <a:off x="5897880" y="4023360"/>
            <a:ext cx="2788920"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Best at Epoch 11</a:t>
            </a:r>
            <a:endParaRPr lang="en-US" sz="950" dirty="0"/>
          </a:p>
        </p:txBody>
      </p:sp>
      <p:sp>
        <p:nvSpPr>
          <p:cNvPr id="24" name="Text 22"/>
          <p:cNvSpPr/>
          <p:nvPr/>
        </p:nvSpPr>
        <p:spPr>
          <a:xfrm>
            <a:off x="5897880" y="4206240"/>
            <a:ext cx="2788920"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Best Macro-F1: 0.4973</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Focal Loss: 4.768 → 0.208</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Monotonic convergence, no instability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t-SNE Feature Space &amp; Grad-CAM Interpretability</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Mechanistic evidence for all observed classification behaviour</a:t>
            </a:r>
            <a:endParaRPr lang="en-US" sz="1100" dirty="0"/>
          </a:p>
        </p:txBody>
      </p:sp>
      <p:sp>
        <p:nvSpPr>
          <p:cNvPr id="5" name="Shape 3"/>
          <p:cNvSpPr/>
          <p:nvPr/>
        </p:nvSpPr>
        <p:spPr>
          <a:xfrm>
            <a:off x="228600" y="1078992"/>
            <a:ext cx="4251960" cy="3794760"/>
          </a:xfrm>
          <a:prstGeom prst="roundRect">
            <a:avLst>
              <a:gd name="adj" fmla="val 1928"/>
            </a:avLst>
          </a:prstGeom>
          <a:solidFill>
            <a:srgbClr val="E8F0FA"/>
          </a:solidFill>
          <a:ln/>
          <a:effectLst>
            <a:outerShdw sx="100000" sy="100000" kx="0" ky="0" algn="bl" rotWithShape="0" blurRad="101600" dist="38100" dir="2700000">
              <a:srgbClr val="000000">
                <a:alpha val="13000"/>
              </a:srgbClr>
            </a:outerShdw>
          </a:effectLst>
        </p:spPr>
      </p:sp>
      <p:sp>
        <p:nvSpPr>
          <p:cNvPr id="6" name="Text 4"/>
          <p:cNvSpPr/>
          <p:nvPr/>
        </p:nvSpPr>
        <p:spPr>
          <a:xfrm>
            <a:off x="365760" y="1143000"/>
            <a:ext cx="3977640" cy="320040"/>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t-SNE Feature Space Visualisation</a:t>
            </a:r>
            <a:endParaRPr lang="en-US" sz="1300" dirty="0"/>
          </a:p>
        </p:txBody>
      </p:sp>
      <p:sp>
        <p:nvSpPr>
          <p:cNvPr id="7" name="Shape 5"/>
          <p:cNvSpPr/>
          <p:nvPr/>
        </p:nvSpPr>
        <p:spPr>
          <a:xfrm>
            <a:off x="347472" y="1627632"/>
            <a:ext cx="228600" cy="228600"/>
          </a:xfrm>
          <a:prstGeom prst="ellipse">
            <a:avLst/>
          </a:prstGeom>
          <a:solidFill>
            <a:srgbClr val="1B4F8A"/>
          </a:solidFill>
          <a:ln/>
        </p:spPr>
      </p:sp>
      <p:sp>
        <p:nvSpPr>
          <p:cNvPr id="8" name="Text 6"/>
          <p:cNvSpPr/>
          <p:nvPr/>
        </p:nvSpPr>
        <p:spPr>
          <a:xfrm>
            <a:off x="658368" y="1581912"/>
            <a:ext cx="374904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HOG Feature Space</a:t>
            </a:r>
            <a:endParaRPr lang="en-US" sz="1100" dirty="0"/>
          </a:p>
        </p:txBody>
      </p:sp>
      <p:sp>
        <p:nvSpPr>
          <p:cNvPr id="9" name="Text 7"/>
          <p:cNvSpPr/>
          <p:nvPr/>
        </p:nvSpPr>
        <p:spPr>
          <a:xfrm>
            <a:off x="658368" y="1810512"/>
            <a:ext cx="37490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Car (n=100) dominates and forms dense clusters. Pedestrian (n=53) partially overlaps. Bicycle (n=2) and bus (n=1) are near-invisible — too few samples to form any identifiable cluster.</a:t>
            </a:r>
            <a:endParaRPr lang="en-US" sz="950" dirty="0"/>
          </a:p>
        </p:txBody>
      </p:sp>
      <p:sp>
        <p:nvSpPr>
          <p:cNvPr id="10" name="Shape 8"/>
          <p:cNvSpPr/>
          <p:nvPr/>
        </p:nvSpPr>
        <p:spPr>
          <a:xfrm>
            <a:off x="347472" y="2432304"/>
            <a:ext cx="228600" cy="228600"/>
          </a:xfrm>
          <a:prstGeom prst="ellipse">
            <a:avLst/>
          </a:prstGeom>
          <a:solidFill>
            <a:srgbClr val="22C55E"/>
          </a:solidFill>
          <a:ln/>
        </p:spPr>
      </p:sp>
      <p:sp>
        <p:nvSpPr>
          <p:cNvPr id="11" name="Text 9"/>
          <p:cNvSpPr/>
          <p:nvPr/>
        </p:nvSpPr>
        <p:spPr>
          <a:xfrm>
            <a:off x="658368" y="2386584"/>
            <a:ext cx="374904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ResNet18 Feature Space</a:t>
            </a:r>
            <a:endParaRPr lang="en-US" sz="1100" dirty="0"/>
          </a:p>
        </p:txBody>
      </p:sp>
      <p:sp>
        <p:nvSpPr>
          <p:cNvPr id="12" name="Text 10"/>
          <p:cNvSpPr/>
          <p:nvPr/>
        </p:nvSpPr>
        <p:spPr>
          <a:xfrm>
            <a:off x="658368" y="2615184"/>
            <a:ext cx="37490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Motor cluster shows improved separation from pedestrian compared to HOG space — direct evidence of Focal Loss training working. Motor and pedestrian are more spatially separated.</a:t>
            </a:r>
            <a:endParaRPr lang="en-US" sz="950" dirty="0"/>
          </a:p>
        </p:txBody>
      </p:sp>
      <p:sp>
        <p:nvSpPr>
          <p:cNvPr id="13" name="Shape 11"/>
          <p:cNvSpPr/>
          <p:nvPr/>
        </p:nvSpPr>
        <p:spPr>
          <a:xfrm>
            <a:off x="347472" y="3236976"/>
            <a:ext cx="228600" cy="228600"/>
          </a:xfrm>
          <a:prstGeom prst="ellipse">
            <a:avLst/>
          </a:prstGeom>
          <a:solidFill>
            <a:srgbClr val="EF4444"/>
          </a:solidFill>
          <a:ln/>
        </p:spPr>
      </p:sp>
      <p:sp>
        <p:nvSpPr>
          <p:cNvPr id="14" name="Text 12"/>
          <p:cNvSpPr/>
          <p:nvPr/>
        </p:nvSpPr>
        <p:spPr>
          <a:xfrm>
            <a:off x="658368" y="3191256"/>
            <a:ext cx="374904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Persistent Ambiguity</a:t>
            </a:r>
            <a:endParaRPr lang="en-US" sz="1100" dirty="0"/>
          </a:p>
        </p:txBody>
      </p:sp>
      <p:sp>
        <p:nvSpPr>
          <p:cNvPr id="15" name="Text 13"/>
          <p:cNvSpPr/>
          <p:nvPr/>
        </p:nvSpPr>
        <p:spPr>
          <a:xfrm>
            <a:off x="658368" y="3419856"/>
            <a:ext cx="37490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Pedestrian-people overlap persists in BOTH spaces. Both classes appear as small upright figures at UAV altitude — a fundamental visual ambiguity that cannot be resolved from crop-level features alone.</a:t>
            </a:r>
            <a:endParaRPr lang="en-US" sz="950" dirty="0"/>
          </a:p>
        </p:txBody>
      </p:sp>
      <p:sp>
        <p:nvSpPr>
          <p:cNvPr id="16" name="Shape 14"/>
          <p:cNvSpPr/>
          <p:nvPr/>
        </p:nvSpPr>
        <p:spPr>
          <a:xfrm>
            <a:off x="347472" y="4041648"/>
            <a:ext cx="228600" cy="228600"/>
          </a:xfrm>
          <a:prstGeom prst="ellipse">
            <a:avLst/>
          </a:prstGeom>
          <a:solidFill>
            <a:srgbClr val="F59E0B"/>
          </a:solidFill>
          <a:ln/>
        </p:spPr>
      </p:sp>
      <p:sp>
        <p:nvSpPr>
          <p:cNvPr id="17" name="Text 15"/>
          <p:cNvSpPr/>
          <p:nvPr/>
        </p:nvSpPr>
        <p:spPr>
          <a:xfrm>
            <a:off x="658368" y="3995928"/>
            <a:ext cx="374904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Why Bus F1 = 0</a:t>
            </a:r>
            <a:endParaRPr lang="en-US" sz="1100" dirty="0"/>
          </a:p>
        </p:txBody>
      </p:sp>
      <p:sp>
        <p:nvSpPr>
          <p:cNvPr id="18" name="Text 16"/>
          <p:cNvSpPr/>
          <p:nvPr/>
        </p:nvSpPr>
        <p:spPr>
          <a:xfrm>
            <a:off x="658368" y="4224528"/>
            <a:ext cx="374904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t-SNE directly confirms: bus (n=1 in t-SNE test subset) is invisible. There are literally insufficient samples to form a classifiable cluster — this is data scarcity, not model failure.</a:t>
            </a:r>
            <a:endParaRPr lang="en-US" sz="950" dirty="0"/>
          </a:p>
        </p:txBody>
      </p:sp>
      <p:sp>
        <p:nvSpPr>
          <p:cNvPr id="19" name="Shape 17"/>
          <p:cNvSpPr/>
          <p:nvPr/>
        </p:nvSpPr>
        <p:spPr>
          <a:xfrm>
            <a:off x="4709160" y="1078992"/>
            <a:ext cx="4160520" cy="3794760"/>
          </a:xfrm>
          <a:prstGeom prst="roundRect">
            <a:avLst>
              <a:gd name="adj" fmla="val 1928"/>
            </a:avLst>
          </a:prstGeom>
          <a:solidFill>
            <a:srgbClr val="E8F0FA"/>
          </a:solidFill>
          <a:ln/>
          <a:effectLst>
            <a:outerShdw sx="100000" sy="100000" kx="0" ky="0" algn="bl" rotWithShape="0" blurRad="101600" dist="38100" dir="2700000">
              <a:srgbClr val="000000">
                <a:alpha val="13000"/>
              </a:srgbClr>
            </a:outerShdw>
          </a:effectLst>
        </p:spPr>
      </p:sp>
      <p:sp>
        <p:nvSpPr>
          <p:cNvPr id="20" name="Text 18"/>
          <p:cNvSpPr/>
          <p:nvPr/>
        </p:nvSpPr>
        <p:spPr>
          <a:xfrm>
            <a:off x="4846320" y="1143000"/>
            <a:ext cx="3931920" cy="320040"/>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Grad-CAM: What Does the Model Attend To?</a:t>
            </a:r>
            <a:endParaRPr lang="en-US" sz="1300" dirty="0"/>
          </a:p>
        </p:txBody>
      </p:sp>
      <p:sp>
        <p:nvSpPr>
          <p:cNvPr id="21" name="Shape 19"/>
          <p:cNvSpPr/>
          <p:nvPr/>
        </p:nvSpPr>
        <p:spPr>
          <a:xfrm>
            <a:off x="4828032" y="1627632"/>
            <a:ext cx="228600" cy="228600"/>
          </a:xfrm>
          <a:prstGeom prst="ellipse">
            <a:avLst/>
          </a:prstGeom>
          <a:solidFill>
            <a:srgbClr val="22C55E"/>
          </a:solidFill>
          <a:ln/>
        </p:spPr>
      </p:sp>
      <p:sp>
        <p:nvSpPr>
          <p:cNvPr id="22" name="Text 20"/>
          <p:cNvSpPr/>
          <p:nvPr/>
        </p:nvSpPr>
        <p:spPr>
          <a:xfrm>
            <a:off x="5138928" y="1581912"/>
            <a:ext cx="365760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Correct Classifications (Col 1–4)</a:t>
            </a:r>
            <a:endParaRPr lang="en-US" sz="1100" dirty="0"/>
          </a:p>
        </p:txBody>
      </p:sp>
      <p:sp>
        <p:nvSpPr>
          <p:cNvPr id="23" name="Text 21"/>
          <p:cNvSpPr/>
          <p:nvPr/>
        </p:nvSpPr>
        <p:spPr>
          <a:xfrm>
            <a:off x="5138928" y="1810512"/>
            <a:ext cx="365760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Heatmaps focus on discriminative regions: car rooftop boundary, bicycle wheel-handlebar junction, pedestrian torso, motor seat-wheel silhouette. Model attends to class-relevant features.</a:t>
            </a:r>
            <a:endParaRPr lang="en-US" sz="950" dirty="0"/>
          </a:p>
        </p:txBody>
      </p:sp>
      <p:sp>
        <p:nvSpPr>
          <p:cNvPr id="24" name="Shape 22"/>
          <p:cNvSpPr/>
          <p:nvPr/>
        </p:nvSpPr>
        <p:spPr>
          <a:xfrm>
            <a:off x="4828032" y="2432304"/>
            <a:ext cx="228600" cy="228600"/>
          </a:xfrm>
          <a:prstGeom prst="ellipse">
            <a:avLst/>
          </a:prstGeom>
          <a:solidFill>
            <a:srgbClr val="EF4444"/>
          </a:solidFill>
          <a:ln/>
        </p:spPr>
      </p:sp>
      <p:sp>
        <p:nvSpPr>
          <p:cNvPr id="25" name="Text 23"/>
          <p:cNvSpPr/>
          <p:nvPr/>
        </p:nvSpPr>
        <p:spPr>
          <a:xfrm>
            <a:off x="5138928" y="2386584"/>
            <a:ext cx="365760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Misclassifications (Col 5–8)</a:t>
            </a:r>
            <a:endParaRPr lang="en-US" sz="1100" dirty="0"/>
          </a:p>
        </p:txBody>
      </p:sp>
      <p:sp>
        <p:nvSpPr>
          <p:cNvPr id="26" name="Text 24"/>
          <p:cNvSpPr/>
          <p:nvPr/>
        </p:nvSpPr>
        <p:spPr>
          <a:xfrm>
            <a:off x="5138928" y="2615184"/>
            <a:ext cx="365760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Heatmaps are diffuse and spatially scattered — no sharply focused discriminative region. The model cannot locate a class-specific anchor, confirming genuine visual ambiguity.</a:t>
            </a:r>
            <a:endParaRPr lang="en-US" sz="950" dirty="0"/>
          </a:p>
        </p:txBody>
      </p:sp>
      <p:sp>
        <p:nvSpPr>
          <p:cNvPr id="27" name="Shape 25"/>
          <p:cNvSpPr/>
          <p:nvPr/>
        </p:nvSpPr>
        <p:spPr>
          <a:xfrm>
            <a:off x="4828032" y="3236976"/>
            <a:ext cx="228600" cy="228600"/>
          </a:xfrm>
          <a:prstGeom prst="ellipse">
            <a:avLst/>
          </a:prstGeom>
          <a:solidFill>
            <a:srgbClr val="1B4F8A"/>
          </a:solidFill>
          <a:ln/>
        </p:spPr>
      </p:sp>
      <p:sp>
        <p:nvSpPr>
          <p:cNvPr id="28" name="Text 26"/>
          <p:cNvSpPr/>
          <p:nvPr/>
        </p:nvSpPr>
        <p:spPr>
          <a:xfrm>
            <a:off x="5138928" y="3191256"/>
            <a:ext cx="365760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Corroborates t-SNE</a:t>
            </a:r>
            <a:endParaRPr lang="en-US" sz="1100" dirty="0"/>
          </a:p>
        </p:txBody>
      </p:sp>
      <p:sp>
        <p:nvSpPr>
          <p:cNvPr id="29" name="Text 27"/>
          <p:cNvSpPr/>
          <p:nvPr/>
        </p:nvSpPr>
        <p:spPr>
          <a:xfrm>
            <a:off x="5138928" y="3419856"/>
            <a:ext cx="365760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Pedestrian-people and motor-pedestrian confusion shown in t-SNE as feature-space overlap is confirmed by Grad-CAM showing diffuse attention — same root cause, two independent evidence sources.</a:t>
            </a:r>
            <a:endParaRPr lang="en-US" sz="950" dirty="0"/>
          </a:p>
        </p:txBody>
      </p:sp>
      <p:sp>
        <p:nvSpPr>
          <p:cNvPr id="30" name="Shape 28"/>
          <p:cNvSpPr/>
          <p:nvPr/>
        </p:nvSpPr>
        <p:spPr>
          <a:xfrm>
            <a:off x="4828032" y="4041648"/>
            <a:ext cx="228600" cy="228600"/>
          </a:xfrm>
          <a:prstGeom prst="ellipse">
            <a:avLst/>
          </a:prstGeom>
          <a:solidFill>
            <a:srgbClr val="F59E0B"/>
          </a:solidFill>
          <a:ln/>
        </p:spPr>
      </p:sp>
      <p:sp>
        <p:nvSpPr>
          <p:cNvPr id="31" name="Text 29"/>
          <p:cNvSpPr/>
          <p:nvPr/>
        </p:nvSpPr>
        <p:spPr>
          <a:xfrm>
            <a:off x="5138928" y="3995928"/>
            <a:ext cx="3657600" cy="228600"/>
          </a:xfrm>
          <a:prstGeom prst="rect">
            <a:avLst/>
          </a:prstGeom>
          <a:noFill/>
          <a:ln/>
        </p:spPr>
        <p:txBody>
          <a:bodyPr wrap="square" lIns="0" tIns="0" rIns="0" bIns="0"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Practical Insight</a:t>
            </a:r>
            <a:endParaRPr lang="en-US" sz="1100" dirty="0"/>
          </a:p>
        </p:txBody>
      </p:sp>
      <p:sp>
        <p:nvSpPr>
          <p:cNvPr id="32" name="Text 30"/>
          <p:cNvSpPr/>
          <p:nvPr/>
        </p:nvSpPr>
        <p:spPr>
          <a:xfrm>
            <a:off x="5138928" y="4224528"/>
            <a:ext cx="3657600" cy="47548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Unfocused Grad-CAM is a deployable signal: if activation is diffuse, flag the prediction as low confidence and escalate to human review rather than acting on the model's top-1 output.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p:spPr>
      </p:sp>
      <p:sp>
        <p:nvSpPr>
          <p:cNvPr id="3" name="Text 1"/>
          <p:cNvSpPr/>
          <p:nvPr/>
        </p:nvSpPr>
        <p:spPr>
          <a:xfrm>
            <a:off x="320040" y="73152"/>
            <a:ext cx="7772400" cy="51206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Conclusions &amp; Future Work</a:t>
            </a:r>
            <a:endParaRPr lang="en-US" sz="2200" dirty="0"/>
          </a:p>
        </p:txBody>
      </p:sp>
      <p:sp>
        <p:nvSpPr>
          <p:cNvPr id="4" name="Text 2"/>
          <p:cNvSpPr/>
          <p:nvPr/>
        </p:nvSpPr>
        <p:spPr>
          <a:xfrm>
            <a:off x="320040" y="548640"/>
            <a:ext cx="8229600" cy="347472"/>
          </a:xfrm>
          <a:prstGeom prst="rect">
            <a:avLst/>
          </a:prstGeom>
          <a:noFill/>
          <a:ln/>
        </p:spPr>
        <p:txBody>
          <a:bodyPr wrap="square" lIns="0" tIns="0" rIns="0" bIns="0" rtlCol="0" anchor="ctr"/>
          <a:lstStyle/>
          <a:p>
            <a:pPr indent="0" marL="0">
              <a:buNone/>
            </a:pPr>
            <a:r>
              <a:rPr lang="en-US" sz="1100" i="1" dirty="0">
                <a:solidFill>
                  <a:srgbClr val="9BB8D4"/>
                </a:solidFill>
                <a:latin typeface="Calibri" pitchFamily="34" charset="0"/>
                <a:ea typeface="Calibri" pitchFamily="34" charset="-122"/>
                <a:cs typeface="Calibri" pitchFamily="34" charset="-120"/>
              </a:rPr>
              <a:t>Four principal findings and the path forward</a:t>
            </a:r>
            <a:endParaRPr lang="en-US" sz="1100" dirty="0"/>
          </a:p>
        </p:txBody>
      </p:sp>
      <p:sp>
        <p:nvSpPr>
          <p:cNvPr id="5" name="Shape 3"/>
          <p:cNvSpPr/>
          <p:nvPr/>
        </p:nvSpPr>
        <p:spPr>
          <a:xfrm>
            <a:off x="228600" y="1078992"/>
            <a:ext cx="4251960" cy="1298448"/>
          </a:xfrm>
          <a:prstGeom prst="roundRect">
            <a:avLst>
              <a:gd name="adj" fmla="val 5634"/>
            </a:avLst>
          </a:prstGeom>
          <a:solidFill>
            <a:srgbClr val="E8F0FA"/>
          </a:solidFill>
          <a:ln/>
          <a:effectLst>
            <a:outerShdw sx="100000" sy="100000" kx="0" ky="0" algn="bl" rotWithShape="0" blurRad="101600" dist="38100" dir="2700000">
              <a:srgbClr val="000000">
                <a:alpha val="13000"/>
              </a:srgbClr>
            </a:outerShdw>
          </a:effectLst>
        </p:spPr>
      </p:sp>
      <p:sp>
        <p:nvSpPr>
          <p:cNvPr id="6" name="Shape 4"/>
          <p:cNvSpPr/>
          <p:nvPr/>
        </p:nvSpPr>
        <p:spPr>
          <a:xfrm>
            <a:off x="320040" y="1170432"/>
            <a:ext cx="384048" cy="384048"/>
          </a:xfrm>
          <a:prstGeom prst="roundRect">
            <a:avLst>
              <a:gd name="adj" fmla="val 14286"/>
            </a:avLst>
          </a:prstGeom>
          <a:solidFill>
            <a:srgbClr val="EF4444"/>
          </a:solidFill>
          <a:ln/>
        </p:spPr>
      </p:sp>
      <p:sp>
        <p:nvSpPr>
          <p:cNvPr id="7" name="Text 5"/>
          <p:cNvSpPr/>
          <p:nvPr/>
        </p:nvSpPr>
        <p:spPr>
          <a:xfrm>
            <a:off x="320040" y="1170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8" name="Text 6"/>
          <p:cNvSpPr/>
          <p:nvPr/>
        </p:nvSpPr>
        <p:spPr>
          <a:xfrm>
            <a:off x="795528" y="1152144"/>
            <a:ext cx="3593592" cy="320040"/>
          </a:xfrm>
          <a:prstGeom prst="rect">
            <a:avLst/>
          </a:prstGeom>
          <a:noFill/>
          <a:ln/>
        </p:spPr>
        <p:txBody>
          <a:bodyPr wrap="square" lIns="0" tIns="0" rIns="0" bIns="0"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Track-Aware Splitting is Non-Negotiable</a:t>
            </a:r>
            <a:endParaRPr lang="en-US" sz="1150" dirty="0"/>
          </a:p>
        </p:txBody>
      </p:sp>
      <p:sp>
        <p:nvSpPr>
          <p:cNvPr id="9" name="Text 7"/>
          <p:cNvSpPr/>
          <p:nvPr/>
        </p:nvSpPr>
        <p:spPr>
          <a:xfrm>
            <a:off x="795528" y="1481328"/>
            <a:ext cx="3593592" cy="8046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+52.0pp macro-F1 inflation under random splitting — the largest leakage effect documented in UAV crop classification. Any benchmark not controlling for track identity cannot be trusted for deployment.</a:t>
            </a:r>
            <a:endParaRPr lang="en-US" sz="1000" dirty="0"/>
          </a:p>
        </p:txBody>
      </p:sp>
      <p:sp>
        <p:nvSpPr>
          <p:cNvPr id="10" name="Shape 8"/>
          <p:cNvSpPr/>
          <p:nvPr/>
        </p:nvSpPr>
        <p:spPr>
          <a:xfrm>
            <a:off x="4709160" y="1078992"/>
            <a:ext cx="4251960" cy="1298448"/>
          </a:xfrm>
          <a:prstGeom prst="roundRect">
            <a:avLst>
              <a:gd name="adj" fmla="val 5634"/>
            </a:avLst>
          </a:prstGeom>
          <a:solidFill>
            <a:srgbClr val="E8F0FA"/>
          </a:solidFill>
          <a:ln/>
          <a:effectLst>
            <a:outerShdw sx="100000" sy="100000" kx="0" ky="0" algn="bl" rotWithShape="0" blurRad="101600" dist="38100" dir="2700000">
              <a:srgbClr val="000000">
                <a:alpha val="13000"/>
              </a:srgbClr>
            </a:outerShdw>
          </a:effectLst>
        </p:spPr>
      </p:sp>
      <p:sp>
        <p:nvSpPr>
          <p:cNvPr id="11" name="Shape 9"/>
          <p:cNvSpPr/>
          <p:nvPr/>
        </p:nvSpPr>
        <p:spPr>
          <a:xfrm>
            <a:off x="4800600" y="1170432"/>
            <a:ext cx="384048" cy="384048"/>
          </a:xfrm>
          <a:prstGeom prst="roundRect">
            <a:avLst>
              <a:gd name="adj" fmla="val 14286"/>
            </a:avLst>
          </a:prstGeom>
          <a:solidFill>
            <a:srgbClr val="22C55E"/>
          </a:solidFill>
          <a:ln/>
        </p:spPr>
      </p:sp>
      <p:sp>
        <p:nvSpPr>
          <p:cNvPr id="12" name="Text 10"/>
          <p:cNvSpPr/>
          <p:nvPr/>
        </p:nvSpPr>
        <p:spPr>
          <a:xfrm>
            <a:off x="4800600" y="1170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3" name="Text 11"/>
          <p:cNvSpPr/>
          <p:nvPr/>
        </p:nvSpPr>
        <p:spPr>
          <a:xfrm>
            <a:off x="5276088" y="1152144"/>
            <a:ext cx="3593592" cy="320040"/>
          </a:xfrm>
          <a:prstGeom prst="rect">
            <a:avLst/>
          </a:prstGeom>
          <a:noFill/>
          <a:ln/>
        </p:spPr>
        <p:txBody>
          <a:bodyPr wrap="square" lIns="0" tIns="0" rIns="0" bIns="0"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Deep Learning Necessary for Minority Classes</a:t>
            </a:r>
            <a:endParaRPr lang="en-US" sz="1150" dirty="0"/>
          </a:p>
        </p:txBody>
      </p:sp>
      <p:sp>
        <p:nvSpPr>
          <p:cNvPr id="14" name="Text 12"/>
          <p:cNvSpPr/>
          <p:nvPr/>
        </p:nvSpPr>
        <p:spPr>
          <a:xfrm>
            <a:off x="5276088" y="1481328"/>
            <a:ext cx="3593592" cy="8046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ResNet18 with Focal Loss (macro-F1=0.497) is the only model achieving non-zero F1 on bicycle, motor, and people. HOG+SVM and HOG+RF score zero on five of seven classes under honest evaluation.</a:t>
            </a:r>
            <a:endParaRPr lang="en-US" sz="1000" dirty="0"/>
          </a:p>
        </p:txBody>
      </p:sp>
      <p:sp>
        <p:nvSpPr>
          <p:cNvPr id="15" name="Shape 13"/>
          <p:cNvSpPr/>
          <p:nvPr/>
        </p:nvSpPr>
        <p:spPr>
          <a:xfrm>
            <a:off x="228600" y="2505456"/>
            <a:ext cx="4251960" cy="1298448"/>
          </a:xfrm>
          <a:prstGeom prst="roundRect">
            <a:avLst>
              <a:gd name="adj" fmla="val 5634"/>
            </a:avLst>
          </a:prstGeom>
          <a:solidFill>
            <a:srgbClr val="E8F0FA"/>
          </a:solidFill>
          <a:ln/>
          <a:effectLst>
            <a:outerShdw sx="100000" sy="100000" kx="0" ky="0" algn="bl" rotWithShape="0" blurRad="101600" dist="38100" dir="2700000">
              <a:srgbClr val="000000">
                <a:alpha val="13000"/>
              </a:srgbClr>
            </a:outerShdw>
          </a:effectLst>
        </p:spPr>
      </p:sp>
      <p:sp>
        <p:nvSpPr>
          <p:cNvPr id="16" name="Shape 14"/>
          <p:cNvSpPr/>
          <p:nvPr/>
        </p:nvSpPr>
        <p:spPr>
          <a:xfrm>
            <a:off x="320040" y="2596896"/>
            <a:ext cx="384048" cy="384048"/>
          </a:xfrm>
          <a:prstGeom prst="roundRect">
            <a:avLst>
              <a:gd name="adj" fmla="val 14286"/>
            </a:avLst>
          </a:prstGeom>
          <a:solidFill>
            <a:srgbClr val="1B4F8A"/>
          </a:solidFill>
          <a:ln/>
        </p:spPr>
      </p:sp>
      <p:sp>
        <p:nvSpPr>
          <p:cNvPr id="17" name="Text 15"/>
          <p:cNvSpPr/>
          <p:nvPr/>
        </p:nvSpPr>
        <p:spPr>
          <a:xfrm>
            <a:off x="32004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8" name="Text 16"/>
          <p:cNvSpPr/>
          <p:nvPr/>
        </p:nvSpPr>
        <p:spPr>
          <a:xfrm>
            <a:off x="795528" y="2578608"/>
            <a:ext cx="3593592" cy="320040"/>
          </a:xfrm>
          <a:prstGeom prst="rect">
            <a:avLst/>
          </a:prstGeom>
          <a:noFill/>
          <a:ln/>
        </p:spPr>
        <p:txBody>
          <a:bodyPr wrap="square" lIns="0" tIns="0" rIns="0" bIns="0"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Accuracy ≠ Performance on Imbalanced Data</a:t>
            </a:r>
            <a:endParaRPr lang="en-US" sz="1150" dirty="0"/>
          </a:p>
        </p:txBody>
      </p:sp>
      <p:sp>
        <p:nvSpPr>
          <p:cNvPr id="19" name="Text 17"/>
          <p:cNvSpPr/>
          <p:nvPr/>
        </p:nvSpPr>
        <p:spPr>
          <a:xfrm>
            <a:off x="795528" y="2907792"/>
            <a:ext cx="3593592" cy="8046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HOG+RF leads on accuracy (0.829) but fails entirely on minority classes. Macro-F1 is the correct primary metric for imbalanced multi-class UAV datasets where minority-class recall matters operationally.</a:t>
            </a:r>
            <a:endParaRPr lang="en-US" sz="1000" dirty="0"/>
          </a:p>
        </p:txBody>
      </p:sp>
      <p:sp>
        <p:nvSpPr>
          <p:cNvPr id="20" name="Shape 18"/>
          <p:cNvSpPr/>
          <p:nvPr/>
        </p:nvSpPr>
        <p:spPr>
          <a:xfrm>
            <a:off x="4709160" y="2505456"/>
            <a:ext cx="4251960" cy="1298448"/>
          </a:xfrm>
          <a:prstGeom prst="roundRect">
            <a:avLst>
              <a:gd name="adj" fmla="val 5634"/>
            </a:avLst>
          </a:prstGeom>
          <a:solidFill>
            <a:srgbClr val="E8F0FA"/>
          </a:solidFill>
          <a:ln/>
          <a:effectLst>
            <a:outerShdw sx="100000" sy="100000" kx="0" ky="0" algn="bl" rotWithShape="0" blurRad="101600" dist="38100" dir="2700000">
              <a:srgbClr val="000000">
                <a:alpha val="13000"/>
              </a:srgbClr>
            </a:outerShdw>
          </a:effectLst>
        </p:spPr>
      </p:sp>
      <p:sp>
        <p:nvSpPr>
          <p:cNvPr id="21" name="Shape 19"/>
          <p:cNvSpPr/>
          <p:nvPr/>
        </p:nvSpPr>
        <p:spPr>
          <a:xfrm>
            <a:off x="4800600" y="2596896"/>
            <a:ext cx="384048" cy="384048"/>
          </a:xfrm>
          <a:prstGeom prst="roundRect">
            <a:avLst>
              <a:gd name="adj" fmla="val 14286"/>
            </a:avLst>
          </a:prstGeom>
          <a:solidFill>
            <a:srgbClr val="0EA5E9"/>
          </a:solidFill>
          <a:ln/>
        </p:spPr>
      </p:sp>
      <p:sp>
        <p:nvSpPr>
          <p:cNvPr id="22" name="Text 20"/>
          <p:cNvSpPr/>
          <p:nvPr/>
        </p:nvSpPr>
        <p:spPr>
          <a:xfrm>
            <a:off x="480060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3" name="Text 21"/>
          <p:cNvSpPr/>
          <p:nvPr/>
        </p:nvSpPr>
        <p:spPr>
          <a:xfrm>
            <a:off x="5276088" y="2578608"/>
            <a:ext cx="3593592" cy="320040"/>
          </a:xfrm>
          <a:prstGeom prst="rect">
            <a:avLst/>
          </a:prstGeom>
          <a:noFill/>
          <a:ln/>
        </p:spPr>
        <p:txBody>
          <a:bodyPr wrap="square" lIns="0" tIns="0" rIns="0" bIns="0"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t-SNE + Grad-CAM: Mechanistic Evidence</a:t>
            </a:r>
            <a:endParaRPr lang="en-US" sz="1150" dirty="0"/>
          </a:p>
        </p:txBody>
      </p:sp>
      <p:sp>
        <p:nvSpPr>
          <p:cNvPr id="24" name="Text 22"/>
          <p:cNvSpPr/>
          <p:nvPr/>
        </p:nvSpPr>
        <p:spPr>
          <a:xfrm>
            <a:off x="5276088" y="2907792"/>
            <a:ext cx="3593592" cy="8046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Bus/bicycle zero F1 confirmed as data scarcity — not model failure. Pedestrian-people confusion confirmed as fundamental visual ambiguity. These are different problems requiring different solutions.</a:t>
            </a:r>
            <a:endParaRPr lang="en-US" sz="1000" dirty="0"/>
          </a:p>
        </p:txBody>
      </p:sp>
      <p:sp>
        <p:nvSpPr>
          <p:cNvPr id="25" name="Shape 23"/>
          <p:cNvSpPr/>
          <p:nvPr/>
        </p:nvSpPr>
        <p:spPr>
          <a:xfrm>
            <a:off x="228600" y="3950208"/>
            <a:ext cx="8686800" cy="960120"/>
          </a:xfrm>
          <a:prstGeom prst="roundRect">
            <a:avLst>
              <a:gd name="adj" fmla="val 7619"/>
            </a:avLst>
          </a:prstGeom>
          <a:solidFill>
            <a:srgbClr val="0D1B2A"/>
          </a:solidFill>
          <a:ln/>
        </p:spPr>
      </p:sp>
      <p:sp>
        <p:nvSpPr>
          <p:cNvPr id="26" name="Text 24"/>
          <p:cNvSpPr/>
          <p:nvPr/>
        </p:nvSpPr>
        <p:spPr>
          <a:xfrm>
            <a:off x="457200" y="4005072"/>
            <a:ext cx="1371600" cy="274320"/>
          </a:xfrm>
          <a:prstGeom prst="rect">
            <a:avLst/>
          </a:prstGeom>
          <a:noFill/>
          <a:ln/>
        </p:spPr>
        <p:txBody>
          <a:bodyPr wrap="square" lIns="0" tIns="0" rIns="0" bIns="0" rtlCol="0" anchor="ctr"/>
          <a:lstStyle/>
          <a:p>
            <a:pPr indent="0" marL="0">
              <a:buNone/>
            </a:pPr>
            <a:r>
              <a:rPr lang="en-US" sz="1100" b="1" dirty="0">
                <a:solidFill>
                  <a:srgbClr val="0EA5E9"/>
                </a:solidFill>
                <a:latin typeface="Cambria" pitchFamily="34" charset="0"/>
                <a:ea typeface="Cambria" pitchFamily="34" charset="-122"/>
                <a:cs typeface="Cambria" pitchFamily="34" charset="-120"/>
              </a:rPr>
              <a:t>Future Work:</a:t>
            </a:r>
            <a:endParaRPr lang="en-US" sz="1100" dirty="0"/>
          </a:p>
        </p:txBody>
      </p:sp>
      <p:sp>
        <p:nvSpPr>
          <p:cNvPr id="27" name="Text 25"/>
          <p:cNvSpPr/>
          <p:nvPr/>
        </p:nvSpPr>
        <p:spPr>
          <a:xfrm>
            <a:off x="457200" y="4279392"/>
            <a:ext cx="8229600" cy="566928"/>
          </a:xfrm>
          <a:prstGeom prst="rect">
            <a:avLst/>
          </a:prstGeom>
          <a:noFill/>
          <a:ln/>
        </p:spPr>
        <p:txBody>
          <a:bodyPr wrap="square" lIns="0" tIns="0" rIns="0" bIns="0" rtlCol="0" anchor="ctr"/>
          <a:lstStyle/>
          <a:p>
            <a:pPr marL="342900" indent="-342900">
              <a:buSzPct val="100000"/>
              <a:buChar char="•"/>
            </a:pPr>
            <a:r>
              <a:rPr lang="en-US" sz="1000" dirty="0">
                <a:solidFill>
                  <a:srgbClr val="9BB8D4"/>
                </a:solidFill>
                <a:latin typeface="Calibri" pitchFamily="34" charset="0"/>
                <a:ea typeface="Calibri" pitchFamily="34" charset="-122"/>
                <a:cs typeface="Calibri" pitchFamily="34" charset="-120"/>
              </a:rPr>
              <a:t>Multi-sequence training → resolve bus/van scarcity</a:t>
            </a:r>
            <a:endParaRPr lang="en-US" sz="1000" dirty="0"/>
          </a:p>
          <a:p>
            <a:pPr marL="342900" indent="-342900">
              <a:buSzPct val="100000"/>
              <a:buChar char="•"/>
            </a:pPr>
            <a:r>
              <a:rPr lang="en-US" sz="1000" dirty="0">
                <a:solidFill>
                  <a:srgbClr val="9BB8D4"/>
                </a:solidFill>
                <a:latin typeface="Calibri" pitchFamily="34" charset="0"/>
                <a:ea typeface="Calibri" pitchFamily="34" charset="-122"/>
                <a:cs typeface="Calibri" pitchFamily="34" charset="-120"/>
              </a:rPr>
              <a:t>Higher resolution input (128–224px) → better small-object features</a:t>
            </a:r>
            <a:endParaRPr lang="en-US" sz="1000" dirty="0"/>
          </a:p>
          <a:p>
            <a:pPr marL="342900" indent="-342900">
              <a:buSzPct val="100000"/>
              <a:buChar char="•"/>
            </a:pPr>
            <a:r>
              <a:rPr lang="en-US" sz="1000" dirty="0">
                <a:solidFill>
                  <a:srgbClr val="9BB8D4"/>
                </a:solidFill>
                <a:latin typeface="Calibri" pitchFamily="34" charset="0"/>
                <a:ea typeface="Calibri" pitchFamily="34" charset="-122"/>
                <a:cs typeface="Calibri" pitchFamily="34" charset="-120"/>
              </a:rPr>
              <a:t>End-to-end detection (YOLOv8) → exploit full-frame spatial context</a:t>
            </a:r>
            <a:endParaRPr lang="en-US" sz="1000" dirty="0"/>
          </a:p>
          <a:p>
            <a:pPr marL="342900" indent="-342900">
              <a:buSzPct val="100000"/>
              <a:buChar char="•"/>
            </a:pPr>
            <a:r>
              <a:rPr lang="en-US" sz="1000" dirty="0">
                <a:solidFill>
                  <a:srgbClr val="9BB8D4"/>
                </a:solidFill>
                <a:latin typeface="Calibri" pitchFamily="34" charset="0"/>
                <a:ea typeface="Calibri" pitchFamily="34" charset="-122"/>
                <a:cs typeface="Calibri" pitchFamily="34" charset="-120"/>
              </a:rPr>
              <a:t>PCA pre-reduction → 10× HOG inference speedup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Shape 1"/>
          <p:cNvSpPr/>
          <p:nvPr/>
        </p:nvSpPr>
        <p:spPr>
          <a:xfrm>
            <a:off x="6583680" y="-1097280"/>
            <a:ext cx="4114800" cy="4114800"/>
          </a:xfrm>
          <a:prstGeom prst="ellipse">
            <a:avLst/>
          </a:prstGeom>
          <a:solidFill>
            <a:srgbClr val="1B4F8A">
              <a:alpha val="25000"/>
            </a:srgbClr>
          </a:solidFill>
          <a:ln/>
        </p:spPr>
      </p:sp>
      <p:sp>
        <p:nvSpPr>
          <p:cNvPr id="4" name="Shape 2"/>
          <p:cNvSpPr/>
          <p:nvPr/>
        </p:nvSpPr>
        <p:spPr>
          <a:xfrm>
            <a:off x="-914400" y="3200400"/>
            <a:ext cx="3200400" cy="3200400"/>
          </a:xfrm>
          <a:prstGeom prst="ellipse">
            <a:avLst/>
          </a:prstGeom>
          <a:solidFill>
            <a:srgbClr val="0EA5E9">
              <a:alpha val="18000"/>
            </a:srgbClr>
          </a:solidFill>
          <a:ln/>
        </p:spPr>
      </p:sp>
      <p:sp>
        <p:nvSpPr>
          <p:cNvPr id="5" name="Text 3"/>
          <p:cNvSpPr/>
          <p:nvPr/>
        </p:nvSpPr>
        <p:spPr>
          <a:xfrm>
            <a:off x="914400" y="1097280"/>
            <a:ext cx="7315200" cy="9144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4"/>
          <p:cNvSpPr/>
          <p:nvPr/>
        </p:nvSpPr>
        <p:spPr>
          <a:xfrm>
            <a:off x="914400" y="2057400"/>
            <a:ext cx="7315200" cy="502920"/>
          </a:xfrm>
          <a:prstGeom prst="rect">
            <a:avLst/>
          </a:prstGeom>
          <a:noFill/>
          <a:ln/>
        </p:spPr>
        <p:txBody>
          <a:bodyPr wrap="square" rtlCol="0" anchor="ctr"/>
          <a:lstStyle/>
          <a:p>
            <a:pPr algn="ctr" indent="0" marL="0">
              <a:buNone/>
            </a:pPr>
            <a:r>
              <a:rPr lang="en-US" sz="2000" i="1" dirty="0">
                <a:solidFill>
                  <a:srgbClr val="0EA5E9"/>
                </a:solidFill>
                <a:latin typeface="Calibri" pitchFamily="34" charset="0"/>
                <a:ea typeface="Calibri" pitchFamily="34" charset="-122"/>
                <a:cs typeface="Calibri" pitchFamily="34" charset="-120"/>
              </a:rPr>
              <a:t>Questions &amp; Discussion</a:t>
            </a:r>
            <a:endParaRPr lang="en-US" sz="2000" dirty="0"/>
          </a:p>
        </p:txBody>
      </p:sp>
      <p:sp>
        <p:nvSpPr>
          <p:cNvPr id="7" name="Shape 5"/>
          <p:cNvSpPr/>
          <p:nvPr/>
        </p:nvSpPr>
        <p:spPr>
          <a:xfrm>
            <a:off x="2286000" y="2697480"/>
            <a:ext cx="4572000" cy="0"/>
          </a:xfrm>
          <a:prstGeom prst="line">
            <a:avLst/>
          </a:prstGeom>
          <a:noFill/>
          <a:ln w="19050">
            <a:solidFill>
              <a:srgbClr val="0EA5E9"/>
            </a:solidFill>
            <a:prstDash val="solid"/>
          </a:ln>
        </p:spPr>
      </p:sp>
      <p:sp>
        <p:nvSpPr>
          <p:cNvPr id="8" name="Text 6"/>
          <p:cNvSpPr/>
          <p:nvPr/>
        </p:nvSpPr>
        <p:spPr>
          <a:xfrm>
            <a:off x="914400" y="2907792"/>
            <a:ext cx="7315200" cy="347472"/>
          </a:xfrm>
          <a:prstGeom prst="rect">
            <a:avLst/>
          </a:prstGeom>
          <a:noFill/>
          <a:ln/>
        </p:spPr>
        <p:txBody>
          <a:bodyPr wrap="square" rtlCol="0" anchor="ctr"/>
          <a:lstStyle/>
          <a:p>
            <a:pPr algn="ctr" indent="0" marL="0">
              <a:buNone/>
            </a:pPr>
            <a:r>
              <a:rPr lang="en-US" sz="1400" dirty="0">
                <a:solidFill>
                  <a:srgbClr val="9BB8D4"/>
                </a:solidFill>
                <a:latin typeface="Calibri" pitchFamily="34" charset="0"/>
                <a:ea typeface="Calibri" pitchFamily="34" charset="-122"/>
                <a:cs typeface="Calibri" pitchFamily="34" charset="-120"/>
              </a:rPr>
              <a:t>SHEHRYAR  |  P2952028  |  MSc Artificial Intelligence</a:t>
            </a:r>
            <a:endParaRPr lang="en-US" sz="1400" dirty="0"/>
          </a:p>
        </p:txBody>
      </p:sp>
      <p:sp>
        <p:nvSpPr>
          <p:cNvPr id="9" name="Text 7"/>
          <p:cNvSpPr/>
          <p:nvPr/>
        </p:nvSpPr>
        <p:spPr>
          <a:xfrm>
            <a:off x="914400" y="3246120"/>
            <a:ext cx="7315200" cy="292608"/>
          </a:xfrm>
          <a:prstGeom prst="rect">
            <a:avLst/>
          </a:prstGeom>
          <a:noFill/>
          <a:ln/>
        </p:spPr>
        <p:txBody>
          <a:bodyPr wrap="square" rtlCol="0" anchor="ctr"/>
          <a:lstStyle/>
          <a:p>
            <a:pPr algn="ctr" indent="0" marL="0">
              <a:buNone/>
            </a:pPr>
            <a:r>
              <a:rPr lang="en-US" sz="1200" i="1" dirty="0">
                <a:solidFill>
                  <a:srgbClr val="9BB8D4"/>
                </a:solidFill>
                <a:latin typeface="Calibri" pitchFamily="34" charset="0"/>
                <a:ea typeface="Calibri" pitchFamily="34" charset="-122"/>
                <a:cs typeface="Calibri" pitchFamily="34" charset="-120"/>
              </a:rPr>
              <a:t>De Montfort University, Leicester  |  CSIP5403</a:t>
            </a:r>
            <a:endParaRPr lang="en-US" sz="1200" dirty="0"/>
          </a:p>
        </p:txBody>
      </p:sp>
      <p:sp>
        <p:nvSpPr>
          <p:cNvPr id="10" name="Shape 8"/>
          <p:cNvSpPr/>
          <p:nvPr/>
        </p:nvSpPr>
        <p:spPr>
          <a:xfrm>
            <a:off x="1188720" y="3767328"/>
            <a:ext cx="1508760" cy="1078992"/>
          </a:xfrm>
          <a:prstGeom prst="roundRect">
            <a:avLst>
              <a:gd name="adj" fmla="val 6780"/>
            </a:avLst>
          </a:prstGeom>
          <a:solidFill>
            <a:srgbClr val="1B4F8A">
              <a:alpha val="40000"/>
            </a:srgbClr>
          </a:solidFill>
          <a:ln/>
        </p:spPr>
      </p:sp>
      <p:sp>
        <p:nvSpPr>
          <p:cNvPr id="11" name="Text 9"/>
          <p:cNvSpPr/>
          <p:nvPr/>
        </p:nvSpPr>
        <p:spPr>
          <a:xfrm>
            <a:off x="1188720" y="3803904"/>
            <a:ext cx="1508760"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8,842</a:t>
            </a:r>
            <a:endParaRPr lang="en-US" sz="2000" dirty="0"/>
          </a:p>
        </p:txBody>
      </p:sp>
      <p:sp>
        <p:nvSpPr>
          <p:cNvPr id="12" name="Text 10"/>
          <p:cNvSpPr/>
          <p:nvPr/>
        </p:nvSpPr>
        <p:spPr>
          <a:xfrm>
            <a:off x="1188720" y="4261104"/>
            <a:ext cx="1508760" cy="512064"/>
          </a:xfrm>
          <a:prstGeom prst="rect">
            <a:avLst/>
          </a:prstGeom>
          <a:noFill/>
          <a:ln/>
        </p:spPr>
        <p:txBody>
          <a:bodyPr wrap="square" lIns="0" tIns="0" rIns="0" bIns="0" rtlCol="0" anchor="ctr"/>
          <a:lstStyle/>
          <a:p>
            <a:pPr algn="ctr" indent="0" marL="0">
              <a:buNone/>
            </a:pPr>
            <a:r>
              <a:rPr lang="en-US" sz="950" dirty="0">
                <a:solidFill>
                  <a:srgbClr val="9BB8D4"/>
                </a:solidFill>
                <a:latin typeface="Calibri" pitchFamily="34" charset="0"/>
                <a:ea typeface="Calibri" pitchFamily="34" charset="-122"/>
                <a:cs typeface="Calibri" pitchFamily="34" charset="-120"/>
              </a:rPr>
              <a:t>Crops</a:t>
            </a:r>
            <a:endParaRPr lang="en-US" sz="950" dirty="0"/>
          </a:p>
        </p:txBody>
      </p:sp>
      <p:sp>
        <p:nvSpPr>
          <p:cNvPr id="13" name="Shape 11"/>
          <p:cNvSpPr/>
          <p:nvPr/>
        </p:nvSpPr>
        <p:spPr>
          <a:xfrm>
            <a:off x="2926080" y="3767328"/>
            <a:ext cx="1508760" cy="1078992"/>
          </a:xfrm>
          <a:prstGeom prst="roundRect">
            <a:avLst>
              <a:gd name="adj" fmla="val 6780"/>
            </a:avLst>
          </a:prstGeom>
          <a:solidFill>
            <a:srgbClr val="1B4F8A">
              <a:alpha val="40000"/>
            </a:srgbClr>
          </a:solidFill>
          <a:ln/>
        </p:spPr>
      </p:sp>
      <p:sp>
        <p:nvSpPr>
          <p:cNvPr id="14" name="Text 12"/>
          <p:cNvSpPr/>
          <p:nvPr/>
        </p:nvSpPr>
        <p:spPr>
          <a:xfrm>
            <a:off x="2926080" y="3803904"/>
            <a:ext cx="1508760"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41.6×</a:t>
            </a:r>
            <a:endParaRPr lang="en-US" sz="2000" dirty="0"/>
          </a:p>
        </p:txBody>
      </p:sp>
      <p:sp>
        <p:nvSpPr>
          <p:cNvPr id="15" name="Text 13"/>
          <p:cNvSpPr/>
          <p:nvPr/>
        </p:nvSpPr>
        <p:spPr>
          <a:xfrm>
            <a:off x="2926080" y="4261104"/>
            <a:ext cx="1508760" cy="512064"/>
          </a:xfrm>
          <a:prstGeom prst="rect">
            <a:avLst/>
          </a:prstGeom>
          <a:noFill/>
          <a:ln/>
        </p:spPr>
        <p:txBody>
          <a:bodyPr wrap="square" lIns="0" tIns="0" rIns="0" bIns="0" rtlCol="0" anchor="ctr"/>
          <a:lstStyle/>
          <a:p>
            <a:pPr algn="ctr" indent="0" marL="0">
              <a:buNone/>
            </a:pPr>
            <a:r>
              <a:rPr lang="en-US" sz="950" dirty="0">
                <a:solidFill>
                  <a:srgbClr val="9BB8D4"/>
                </a:solidFill>
                <a:latin typeface="Calibri" pitchFamily="34" charset="0"/>
                <a:ea typeface="Calibri" pitchFamily="34" charset="-122"/>
                <a:cs typeface="Calibri" pitchFamily="34" charset="-120"/>
              </a:rPr>
              <a:t>Imbalance</a:t>
            </a:r>
            <a:endParaRPr lang="en-US" sz="950" dirty="0"/>
          </a:p>
        </p:txBody>
      </p:sp>
      <p:sp>
        <p:nvSpPr>
          <p:cNvPr id="16" name="Shape 14"/>
          <p:cNvSpPr/>
          <p:nvPr/>
        </p:nvSpPr>
        <p:spPr>
          <a:xfrm>
            <a:off x="4663440" y="3767328"/>
            <a:ext cx="1508760" cy="1078992"/>
          </a:xfrm>
          <a:prstGeom prst="roundRect">
            <a:avLst>
              <a:gd name="adj" fmla="val 6780"/>
            </a:avLst>
          </a:prstGeom>
          <a:solidFill>
            <a:srgbClr val="1B4F8A">
              <a:alpha val="40000"/>
            </a:srgbClr>
          </a:solidFill>
          <a:ln/>
        </p:spPr>
      </p:sp>
      <p:sp>
        <p:nvSpPr>
          <p:cNvPr id="17" name="Text 15"/>
          <p:cNvSpPr/>
          <p:nvPr/>
        </p:nvSpPr>
        <p:spPr>
          <a:xfrm>
            <a:off x="4663440" y="3803904"/>
            <a:ext cx="1508760"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0.497</a:t>
            </a:r>
            <a:endParaRPr lang="en-US" sz="2000" dirty="0"/>
          </a:p>
        </p:txBody>
      </p:sp>
      <p:sp>
        <p:nvSpPr>
          <p:cNvPr id="18" name="Text 16"/>
          <p:cNvSpPr/>
          <p:nvPr/>
        </p:nvSpPr>
        <p:spPr>
          <a:xfrm>
            <a:off x="4663440" y="4261104"/>
            <a:ext cx="1508760" cy="512064"/>
          </a:xfrm>
          <a:prstGeom prst="rect">
            <a:avLst/>
          </a:prstGeom>
          <a:noFill/>
          <a:ln/>
        </p:spPr>
        <p:txBody>
          <a:bodyPr wrap="square" lIns="0" tIns="0" rIns="0" bIns="0" rtlCol="0" anchor="ctr"/>
          <a:lstStyle/>
          <a:p>
            <a:pPr algn="ctr" indent="0" marL="0">
              <a:buNone/>
            </a:pPr>
            <a:r>
              <a:rPr lang="en-US" sz="950" dirty="0">
                <a:solidFill>
                  <a:srgbClr val="9BB8D4"/>
                </a:solidFill>
                <a:latin typeface="Calibri" pitchFamily="34" charset="0"/>
                <a:ea typeface="Calibri" pitchFamily="34" charset="-122"/>
                <a:cs typeface="Calibri" pitchFamily="34" charset="-120"/>
              </a:rPr>
              <a:t>ResNet18</a:t>
            </a:r>
            <a:endParaRPr lang="en-US" sz="950" dirty="0"/>
          </a:p>
          <a:p>
            <a:pPr algn="ctr" indent="0" marL="0">
              <a:buNone/>
            </a:pPr>
            <a:r>
              <a:rPr lang="en-US" sz="950" dirty="0">
                <a:solidFill>
                  <a:srgbClr val="9BB8D4"/>
                </a:solidFill>
                <a:latin typeface="Calibri" pitchFamily="34" charset="0"/>
                <a:ea typeface="Calibri" pitchFamily="34" charset="-122"/>
                <a:cs typeface="Calibri" pitchFamily="34" charset="-120"/>
              </a:rPr>
              <a:t>Macro-F1</a:t>
            </a:r>
            <a:endParaRPr lang="en-US" sz="950" dirty="0"/>
          </a:p>
        </p:txBody>
      </p:sp>
      <p:sp>
        <p:nvSpPr>
          <p:cNvPr id="19" name="Shape 17"/>
          <p:cNvSpPr/>
          <p:nvPr/>
        </p:nvSpPr>
        <p:spPr>
          <a:xfrm>
            <a:off x="6400800" y="3767328"/>
            <a:ext cx="1508760" cy="1078992"/>
          </a:xfrm>
          <a:prstGeom prst="roundRect">
            <a:avLst>
              <a:gd name="adj" fmla="val 6780"/>
            </a:avLst>
          </a:prstGeom>
          <a:solidFill>
            <a:srgbClr val="1B4F8A">
              <a:alpha val="40000"/>
            </a:srgbClr>
          </a:solidFill>
          <a:ln/>
        </p:spPr>
      </p:sp>
      <p:sp>
        <p:nvSpPr>
          <p:cNvPr id="20" name="Text 18"/>
          <p:cNvSpPr/>
          <p:nvPr/>
        </p:nvSpPr>
        <p:spPr>
          <a:xfrm>
            <a:off x="6400800" y="3803904"/>
            <a:ext cx="1508760"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+52pp</a:t>
            </a:r>
            <a:endParaRPr lang="en-US" sz="2000" dirty="0"/>
          </a:p>
        </p:txBody>
      </p:sp>
      <p:sp>
        <p:nvSpPr>
          <p:cNvPr id="21" name="Text 19"/>
          <p:cNvSpPr/>
          <p:nvPr/>
        </p:nvSpPr>
        <p:spPr>
          <a:xfrm>
            <a:off x="6400800" y="4261104"/>
            <a:ext cx="1508760" cy="512064"/>
          </a:xfrm>
          <a:prstGeom prst="rect">
            <a:avLst/>
          </a:prstGeom>
          <a:noFill/>
          <a:ln/>
        </p:spPr>
        <p:txBody>
          <a:bodyPr wrap="square" lIns="0" tIns="0" rIns="0" bIns="0" rtlCol="0" anchor="ctr"/>
          <a:lstStyle/>
          <a:p>
            <a:pPr algn="ctr" indent="0" marL="0">
              <a:buNone/>
            </a:pPr>
            <a:r>
              <a:rPr lang="en-US" sz="950" dirty="0">
                <a:solidFill>
                  <a:srgbClr val="9BB8D4"/>
                </a:solidFill>
                <a:latin typeface="Calibri" pitchFamily="34" charset="0"/>
                <a:ea typeface="Calibri" pitchFamily="34" charset="-122"/>
                <a:cs typeface="Calibri" pitchFamily="34" charset="-120"/>
              </a:rPr>
              <a:t>Leakage</a:t>
            </a:r>
            <a:endParaRPr lang="en-US" sz="950" dirty="0"/>
          </a:p>
          <a:p>
            <a:pPr algn="ctr" indent="0" marL="0">
              <a:buNone/>
            </a:pPr>
            <a:r>
              <a:rPr lang="en-US" sz="950" dirty="0">
                <a:solidFill>
                  <a:srgbClr val="9BB8D4"/>
                </a:solidFill>
                <a:latin typeface="Calibri" pitchFamily="34" charset="0"/>
                <a:ea typeface="Calibri" pitchFamily="34" charset="-122"/>
                <a:cs typeface="Calibri" pitchFamily="34" charset="-120"/>
              </a:rPr>
              <a:t>Effect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Multi-Class Object Classification on UAV Aerial Imagery</dc:title>
  <dc:subject>PptxGenJS Presentation</dc:subject>
  <dc:creator>SHEHRYAR</dc:creator>
  <cp:lastModifiedBy>SHEHRYAR</cp:lastModifiedBy>
  <cp:revision>1</cp:revision>
  <dcterms:created xsi:type="dcterms:W3CDTF">2026-06-10T22:15:00Z</dcterms:created>
  <dcterms:modified xsi:type="dcterms:W3CDTF">2026-06-10T22:15:00Z</dcterms:modified>
</cp:coreProperties>
</file>